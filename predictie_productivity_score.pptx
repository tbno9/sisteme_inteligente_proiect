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embeddedFontLst>
    <p:embeddedFont>
      <p:font typeface="Urbanist" panose="020B0604020202020204" charset="0"/>
      <p:regular r:id="rId12"/>
      <p:bold r:id="rId13"/>
      <p:italic r:id="rId14"/>
      <p:boldItalic r:id="rId15"/>
    </p:embeddedFont>
    <p:embeddedFont>
      <p:font typeface="Urbanist SemiBold" panose="020B0604020202020204"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1" name="Google Shape;12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a8cce92bc7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g3a8cce92bc7_0_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a8cce92bc7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g3a8cce92bc7_0_3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depositphotos.com/ro/photos/studenti.html"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hyperlink" Target="https://www.istockphoto.com/photos/student-cap"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83"/>
        <p:cNvGrpSpPr/>
        <p:nvPr/>
      </p:nvGrpSpPr>
      <p:grpSpPr>
        <a:xfrm>
          <a:off x="0" y="0"/>
          <a:ext cx="0" cy="0"/>
          <a:chOff x="0" y="0"/>
          <a:chExt cx="0" cy="0"/>
        </a:xfrm>
      </p:grpSpPr>
      <p:sp>
        <p:nvSpPr>
          <p:cNvPr id="84" name="Google Shape;84;p13"/>
          <p:cNvSpPr txBox="1"/>
          <p:nvPr/>
        </p:nvSpPr>
        <p:spPr>
          <a:xfrm>
            <a:off x="295275" y="1628775"/>
            <a:ext cx="11601600" cy="145470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4500" b="1" dirty="0">
                <a:solidFill>
                  <a:srgbClr val="DEFF9A"/>
                </a:solidFill>
                <a:latin typeface="Urbanist"/>
                <a:ea typeface="Urbanist"/>
                <a:cs typeface="Urbanist"/>
                <a:sym typeface="Urbanist"/>
              </a:rPr>
              <a:t>PREDICȚIA PRODUCTIVITĂȚII </a:t>
            </a:r>
            <a:endParaRPr sz="4500" b="1" dirty="0">
              <a:solidFill>
                <a:srgbClr val="DEFF9A"/>
              </a:solidFill>
              <a:latin typeface="Urbanist"/>
              <a:ea typeface="Urbanist"/>
              <a:cs typeface="Urbanist"/>
              <a:sym typeface="Urbanist"/>
            </a:endParaRPr>
          </a:p>
          <a:p>
            <a:pPr marL="0" marR="0" lvl="0" indent="0" algn="ctr" rtl="0">
              <a:lnSpc>
                <a:spcPct val="110000"/>
              </a:lnSpc>
              <a:spcBef>
                <a:spcPts val="0"/>
              </a:spcBef>
              <a:spcAft>
                <a:spcPts val="0"/>
              </a:spcAft>
              <a:buNone/>
            </a:pPr>
            <a:r>
              <a:rPr lang="en-US" sz="4500" b="1" dirty="0">
                <a:solidFill>
                  <a:srgbClr val="DEFF9A"/>
                </a:solidFill>
                <a:latin typeface="Urbanist"/>
                <a:ea typeface="Urbanist"/>
                <a:cs typeface="Urbanist"/>
                <a:sym typeface="Urbanist"/>
              </a:rPr>
              <a:t>STUDENȚILOR</a:t>
            </a:r>
            <a:endParaRPr sz="4500" b="1" dirty="0">
              <a:solidFill>
                <a:srgbClr val="DEFF9A"/>
              </a:solidFill>
              <a:latin typeface="Urbanist"/>
              <a:ea typeface="Urbanist"/>
              <a:cs typeface="Urbanist"/>
              <a:sym typeface="Urbanist"/>
            </a:endParaRPr>
          </a:p>
        </p:txBody>
      </p:sp>
      <p:sp>
        <p:nvSpPr>
          <p:cNvPr id="85" name="Google Shape;85;p13"/>
          <p:cNvSpPr txBox="1"/>
          <p:nvPr/>
        </p:nvSpPr>
        <p:spPr>
          <a:xfrm>
            <a:off x="571575" y="3573900"/>
            <a:ext cx="11049000" cy="2772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800" b="0" i="0" u="none" strike="noStrike" cap="none">
                <a:solidFill>
                  <a:srgbClr val="E2E8F0"/>
                </a:solidFill>
                <a:latin typeface="Urbanist"/>
                <a:ea typeface="Urbanist"/>
                <a:cs typeface="Urbanist"/>
                <a:sym typeface="Urbanist"/>
              </a:rPr>
              <a:t>Analiza impactului distragerilor digitale prin Machine Learning</a:t>
            </a:r>
            <a:endParaRPr/>
          </a:p>
        </p:txBody>
      </p:sp>
      <p:sp>
        <p:nvSpPr>
          <p:cNvPr id="86" name="Google Shape;86;p13"/>
          <p:cNvSpPr txBox="1"/>
          <p:nvPr/>
        </p:nvSpPr>
        <p:spPr>
          <a:xfrm>
            <a:off x="571575" y="5130513"/>
            <a:ext cx="11049000" cy="2772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800" b="1" i="0" u="none" strike="noStrike" cap="none">
                <a:solidFill>
                  <a:srgbClr val="E2E8F0"/>
                </a:solidFill>
                <a:latin typeface="Urbanist"/>
                <a:ea typeface="Urbanist"/>
                <a:cs typeface="Urbanist"/>
                <a:sym typeface="Urbanist"/>
              </a:rPr>
              <a:t>Student:</a:t>
            </a:r>
            <a:r>
              <a:rPr lang="en-US" sz="1800" b="0" i="0" u="none" strike="noStrike" cap="none">
                <a:solidFill>
                  <a:srgbClr val="E2E8F0"/>
                </a:solidFill>
                <a:latin typeface="Urbanist"/>
                <a:ea typeface="Urbanist"/>
                <a:cs typeface="Urbanist"/>
                <a:sym typeface="Urbanist"/>
              </a:rPr>
              <a:t> Bogdana-Nelia-Oana Tinc</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90"/>
        <p:cNvGrpSpPr/>
        <p:nvPr/>
      </p:nvGrpSpPr>
      <p:grpSpPr>
        <a:xfrm>
          <a:off x="0" y="0"/>
          <a:ext cx="0" cy="0"/>
          <a:chOff x="0" y="0"/>
          <a:chExt cx="0" cy="0"/>
        </a:xfrm>
      </p:grpSpPr>
      <p:sp>
        <p:nvSpPr>
          <p:cNvPr id="91" name="Google Shape;91;p14"/>
          <p:cNvSpPr txBox="1"/>
          <p:nvPr/>
        </p:nvSpPr>
        <p:spPr>
          <a:xfrm>
            <a:off x="842789" y="668401"/>
            <a:ext cx="3111600" cy="110799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dirty="0" err="1">
                <a:solidFill>
                  <a:srgbClr val="DEFF9A"/>
                </a:solidFill>
                <a:latin typeface="Urbanist"/>
                <a:ea typeface="Urbanist"/>
                <a:cs typeface="Urbanist"/>
                <a:sym typeface="Urbanist"/>
              </a:rPr>
              <a:t>Setul</a:t>
            </a:r>
            <a:r>
              <a:rPr lang="en-US" sz="3600" b="1" dirty="0">
                <a:solidFill>
                  <a:srgbClr val="DEFF9A"/>
                </a:solidFill>
                <a:latin typeface="Urbanist"/>
                <a:ea typeface="Urbanist"/>
                <a:cs typeface="Urbanist"/>
                <a:sym typeface="Urbanist"/>
              </a:rPr>
              <a:t> de date </a:t>
            </a:r>
            <a:endParaRPr sz="3600" b="1" dirty="0">
              <a:solidFill>
                <a:srgbClr val="DEFF9A"/>
              </a:solidFill>
              <a:latin typeface="Urbanist"/>
              <a:ea typeface="Urbanist"/>
              <a:cs typeface="Urbanist"/>
              <a:sym typeface="Urbanist"/>
            </a:endParaRPr>
          </a:p>
          <a:p>
            <a:pPr marL="0" marR="0" lvl="0" indent="0" algn="l" rtl="0">
              <a:spcBef>
                <a:spcPts val="0"/>
              </a:spcBef>
              <a:spcAft>
                <a:spcPts val="0"/>
              </a:spcAft>
              <a:buNone/>
            </a:pPr>
            <a:r>
              <a:rPr lang="en-US" sz="3600" b="1" dirty="0">
                <a:solidFill>
                  <a:srgbClr val="DEFF9A"/>
                </a:solidFill>
                <a:latin typeface="Urbanist"/>
                <a:ea typeface="Urbanist"/>
                <a:cs typeface="Urbanist"/>
                <a:sym typeface="Urbanist"/>
              </a:rPr>
              <a:t>EDA</a:t>
            </a:r>
            <a:endParaRPr sz="3600" b="1" dirty="0">
              <a:solidFill>
                <a:srgbClr val="DEFF9A"/>
              </a:solidFill>
              <a:latin typeface="Urbanist"/>
              <a:ea typeface="Urbanist"/>
              <a:cs typeface="Urbanist"/>
              <a:sym typeface="Urbanist"/>
            </a:endParaRPr>
          </a:p>
        </p:txBody>
      </p:sp>
      <p:grpSp>
        <p:nvGrpSpPr>
          <p:cNvPr id="92" name="Google Shape;92;p14"/>
          <p:cNvGrpSpPr/>
          <p:nvPr/>
        </p:nvGrpSpPr>
        <p:grpSpPr>
          <a:xfrm>
            <a:off x="6790296" y="668408"/>
            <a:ext cx="4735409" cy="3412902"/>
            <a:chOff x="6273950" y="406724"/>
            <a:chExt cx="5693651" cy="4103525"/>
          </a:xfrm>
        </p:grpSpPr>
        <p:pic>
          <p:nvPicPr>
            <p:cNvPr id="93" name="Google Shape;93;p14" descr="image.png"/>
            <p:cNvPicPr preferRelativeResize="0"/>
            <p:nvPr/>
          </p:nvPicPr>
          <p:blipFill rotWithShape="1">
            <a:blip r:embed="rId3">
              <a:alphaModFix/>
            </a:blip>
            <a:srcRect/>
            <a:stretch/>
          </p:blipFill>
          <p:spPr>
            <a:xfrm>
              <a:off x="6273950" y="406724"/>
              <a:ext cx="5693651" cy="4103525"/>
            </a:xfrm>
            <a:prstGeom prst="rect">
              <a:avLst/>
            </a:prstGeom>
            <a:noFill/>
            <a:ln>
              <a:noFill/>
            </a:ln>
          </p:spPr>
        </p:pic>
        <p:pic>
          <p:nvPicPr>
            <p:cNvPr id="94" name="Google Shape;94;p14" title="image_2026-05-27_222349682.png"/>
            <p:cNvPicPr preferRelativeResize="0"/>
            <p:nvPr/>
          </p:nvPicPr>
          <p:blipFill rotWithShape="1">
            <a:blip r:embed="rId4">
              <a:alphaModFix/>
            </a:blip>
            <a:srcRect l="3687" r="3687"/>
            <a:stretch/>
          </p:blipFill>
          <p:spPr>
            <a:xfrm>
              <a:off x="6487113" y="563007"/>
              <a:ext cx="5267325" cy="3790950"/>
            </a:xfrm>
            <a:prstGeom prst="rect">
              <a:avLst/>
            </a:prstGeom>
            <a:noFill/>
            <a:ln>
              <a:noFill/>
            </a:ln>
          </p:spPr>
        </p:pic>
      </p:grpSp>
      <p:sp>
        <p:nvSpPr>
          <p:cNvPr id="95" name="Google Shape;95;p14"/>
          <p:cNvSpPr txBox="1"/>
          <p:nvPr/>
        </p:nvSpPr>
        <p:spPr>
          <a:xfrm>
            <a:off x="605525" y="3106025"/>
            <a:ext cx="10755000" cy="2747400"/>
          </a:xfrm>
          <a:prstGeom prst="rect">
            <a:avLst/>
          </a:prstGeom>
          <a:noFill/>
          <a:ln>
            <a:noFill/>
          </a:ln>
        </p:spPr>
        <p:txBody>
          <a:bodyPr spcFirstLastPara="1" wrap="square" lIns="0" tIns="0" rIns="0" bIns="0" anchor="t" anchorCtr="0">
            <a:spAutoFit/>
          </a:bodyPr>
          <a:lstStyle/>
          <a:p>
            <a:pPr marL="457200" marR="0" lvl="0" indent="-361950" algn="just" rtl="0">
              <a:lnSpc>
                <a:spcPct val="150000"/>
              </a:lnSpc>
              <a:spcBef>
                <a:spcPts val="0"/>
              </a:spcBef>
              <a:spcAft>
                <a:spcPts val="0"/>
              </a:spcAft>
              <a:buClr>
                <a:srgbClr val="DEFF9A"/>
              </a:buClr>
              <a:buSzPts val="2100"/>
              <a:buChar char="●"/>
            </a:pPr>
            <a:r>
              <a:rPr lang="en-US" sz="2100" b="0" i="0" u="none" strike="noStrike" cap="none">
                <a:solidFill>
                  <a:srgbClr val="DEFF9A"/>
                </a:solidFill>
                <a:latin typeface="Urbanist SemiBold"/>
                <a:ea typeface="Urbanist SemiBold"/>
                <a:cs typeface="Urbanist SemiBold"/>
                <a:sym typeface="Urbanist SemiBold"/>
              </a:rPr>
              <a:t>Sursă:</a:t>
            </a:r>
            <a:r>
              <a:rPr lang="en-US" sz="2100" b="0" i="0" u="none" strike="noStrike" cap="none">
                <a:solidFill>
                  <a:srgbClr val="E2E8F0"/>
                </a:solidFill>
                <a:latin typeface="Urbanist"/>
                <a:ea typeface="Urbanist"/>
                <a:cs typeface="Urbanist"/>
                <a:sym typeface="Urbanist"/>
              </a:rPr>
              <a:t> Dataset Kaggle cu 20.000 de înregistrări.</a:t>
            </a:r>
            <a:endParaRPr sz="2100">
              <a:solidFill>
                <a:srgbClr val="E2E8F0"/>
              </a:solidFill>
              <a:latin typeface="Urbanist"/>
              <a:ea typeface="Urbanist"/>
              <a:cs typeface="Urbanist"/>
              <a:sym typeface="Urbanist"/>
            </a:endParaRPr>
          </a:p>
          <a:p>
            <a:pPr marL="457200" marR="0" lvl="0" indent="-361950" algn="just" rtl="0">
              <a:lnSpc>
                <a:spcPct val="150000"/>
              </a:lnSpc>
              <a:spcBef>
                <a:spcPts val="0"/>
              </a:spcBef>
              <a:spcAft>
                <a:spcPts val="0"/>
              </a:spcAft>
              <a:buClr>
                <a:srgbClr val="DEFF9A"/>
              </a:buClr>
              <a:buSzPts val="2100"/>
              <a:buFont typeface="Urbanist"/>
              <a:buChar char="●"/>
            </a:pPr>
            <a:r>
              <a:rPr lang="en-US" sz="2100">
                <a:solidFill>
                  <a:srgbClr val="DEFF9A"/>
                </a:solidFill>
                <a:latin typeface="Urbanist"/>
                <a:ea typeface="Urbanist"/>
                <a:cs typeface="Urbanist"/>
                <a:sym typeface="Urbanist"/>
              </a:rPr>
              <a:t>Variabila țintă:</a:t>
            </a:r>
            <a:r>
              <a:rPr lang="en-US" sz="2100">
                <a:solidFill>
                  <a:srgbClr val="E2E8F0"/>
                </a:solidFill>
                <a:latin typeface="Urbanist"/>
                <a:ea typeface="Urbanist"/>
                <a:cs typeface="Urbanist"/>
                <a:sym typeface="Urbanist"/>
              </a:rPr>
              <a:t> productivity_score</a:t>
            </a:r>
            <a:endParaRPr sz="2100">
              <a:solidFill>
                <a:srgbClr val="E2E8F0"/>
              </a:solidFill>
              <a:latin typeface="Urbanist"/>
              <a:ea typeface="Urbanist"/>
              <a:cs typeface="Urbanist"/>
              <a:sym typeface="Urbanist"/>
            </a:endParaRPr>
          </a:p>
          <a:p>
            <a:pPr marL="457200" marR="0" lvl="0" indent="0" algn="just" rtl="0">
              <a:lnSpc>
                <a:spcPct val="150000"/>
              </a:lnSpc>
              <a:spcBef>
                <a:spcPts val="0"/>
              </a:spcBef>
              <a:spcAft>
                <a:spcPts val="0"/>
              </a:spcAft>
              <a:buNone/>
            </a:pPr>
            <a:endParaRPr sz="2100">
              <a:solidFill>
                <a:srgbClr val="E2E8F0"/>
              </a:solidFill>
              <a:latin typeface="Urbanist"/>
              <a:ea typeface="Urbanist"/>
              <a:cs typeface="Urbanist"/>
              <a:sym typeface="Urbanist"/>
            </a:endParaRPr>
          </a:p>
          <a:p>
            <a:pPr marL="457200" marR="0" lvl="0" indent="-361950" algn="just" rtl="0">
              <a:lnSpc>
                <a:spcPct val="150000"/>
              </a:lnSpc>
              <a:spcBef>
                <a:spcPts val="0"/>
              </a:spcBef>
              <a:spcAft>
                <a:spcPts val="0"/>
              </a:spcAft>
              <a:buClr>
                <a:srgbClr val="DEFF9A"/>
              </a:buClr>
              <a:buSzPts val="2100"/>
              <a:buFont typeface="Urbanist"/>
              <a:buChar char="●"/>
            </a:pPr>
            <a:r>
              <a:rPr lang="en-US" sz="2100">
                <a:solidFill>
                  <a:srgbClr val="DEFF9A"/>
                </a:solidFill>
                <a:latin typeface="Urbanist"/>
                <a:ea typeface="Urbanist"/>
                <a:cs typeface="Urbanist"/>
                <a:sym typeface="Urbanist"/>
              </a:rPr>
              <a:t>Caracteristici:</a:t>
            </a:r>
            <a:r>
              <a:rPr lang="en-US" sz="2100">
                <a:solidFill>
                  <a:srgbClr val="E2E8F0"/>
                </a:solidFill>
                <a:latin typeface="Urbanist"/>
                <a:ea typeface="Urbanist"/>
                <a:cs typeface="Urbanist"/>
                <a:sym typeface="Urbanist"/>
              </a:rPr>
              <a:t> ore de studiu pe zi, ore de somn, timpul pe telefon, orele de gaming, nivelul de stres, scorul de atenție, prezența la cursuri, exerciții fizice, cantitate de cafea consumată, teme rezolvate, nota finală</a:t>
            </a:r>
            <a:endParaRPr sz="2100">
              <a:solidFill>
                <a:srgbClr val="E2E8F0"/>
              </a:solidFill>
              <a:latin typeface="Urbanist"/>
              <a:ea typeface="Urbanist"/>
              <a:cs typeface="Urbanist"/>
              <a:sym typeface="Urbanis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99"/>
        <p:cNvGrpSpPr/>
        <p:nvPr/>
      </p:nvGrpSpPr>
      <p:grpSpPr>
        <a:xfrm>
          <a:off x="0" y="0"/>
          <a:ext cx="0" cy="0"/>
          <a:chOff x="0" y="0"/>
          <a:chExt cx="0" cy="0"/>
        </a:xfrm>
      </p:grpSpPr>
      <p:sp>
        <p:nvSpPr>
          <p:cNvPr id="100" name="Google Shape;100;p15"/>
          <p:cNvSpPr txBox="1"/>
          <p:nvPr/>
        </p:nvSpPr>
        <p:spPr>
          <a:xfrm>
            <a:off x="571500" y="442425"/>
            <a:ext cx="41850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dirty="0" err="1">
                <a:solidFill>
                  <a:srgbClr val="DEFF9A"/>
                </a:solidFill>
                <a:latin typeface="Urbanist"/>
                <a:ea typeface="Urbanist"/>
                <a:cs typeface="Urbanist"/>
                <a:sym typeface="Urbanist"/>
              </a:rPr>
              <a:t>Prelucrările</a:t>
            </a:r>
            <a:r>
              <a:rPr lang="en-US" sz="3600" b="1" dirty="0">
                <a:solidFill>
                  <a:srgbClr val="DEFF9A"/>
                </a:solidFill>
                <a:latin typeface="Urbanist"/>
                <a:ea typeface="Urbanist"/>
                <a:cs typeface="Urbanist"/>
                <a:sym typeface="Urbanist"/>
              </a:rPr>
              <a:t> </a:t>
            </a:r>
            <a:r>
              <a:rPr lang="en-US" sz="3600" b="1" dirty="0" err="1">
                <a:solidFill>
                  <a:srgbClr val="DEFF9A"/>
                </a:solidFill>
                <a:latin typeface="Urbanist"/>
                <a:ea typeface="Urbanist"/>
                <a:cs typeface="Urbanist"/>
                <a:sym typeface="Urbanist"/>
              </a:rPr>
              <a:t>datelor</a:t>
            </a:r>
            <a:endParaRPr dirty="0"/>
          </a:p>
        </p:txBody>
      </p:sp>
      <p:sp>
        <p:nvSpPr>
          <p:cNvPr id="101" name="Google Shape;101;p15"/>
          <p:cNvSpPr txBox="1"/>
          <p:nvPr/>
        </p:nvSpPr>
        <p:spPr>
          <a:xfrm>
            <a:off x="461525" y="1403375"/>
            <a:ext cx="5955900" cy="4910100"/>
          </a:xfrm>
          <a:prstGeom prst="rect">
            <a:avLst/>
          </a:prstGeom>
          <a:noFill/>
          <a:ln>
            <a:noFill/>
          </a:ln>
        </p:spPr>
        <p:txBody>
          <a:bodyPr spcFirstLastPara="1" wrap="square" lIns="0" tIns="0" rIns="0" bIns="0" anchor="t" anchorCtr="0">
            <a:spAutoFit/>
          </a:bodyPr>
          <a:lstStyle/>
          <a:p>
            <a:pPr marL="457200" marR="0" lvl="0" indent="-368300" algn="just" rtl="0">
              <a:lnSpc>
                <a:spcPct val="150000"/>
              </a:lnSpc>
              <a:spcBef>
                <a:spcPts val="0"/>
              </a:spcBef>
              <a:spcAft>
                <a:spcPts val="0"/>
              </a:spcAft>
              <a:buClr>
                <a:srgbClr val="DEFF9A"/>
              </a:buClr>
              <a:buSzPts val="2200"/>
              <a:buChar char="●"/>
            </a:pPr>
            <a:r>
              <a:rPr lang="en-US" sz="2200" b="0" i="0" u="none" strike="noStrike" cap="none" dirty="0" err="1">
                <a:solidFill>
                  <a:srgbClr val="DEFF9A"/>
                </a:solidFill>
                <a:latin typeface="Urbanist SemiBold"/>
                <a:ea typeface="Urbanist SemiBold"/>
                <a:cs typeface="Urbanist SemiBold"/>
                <a:sym typeface="Urbanist SemiBold"/>
              </a:rPr>
              <a:t>Curățarea</a:t>
            </a:r>
            <a:r>
              <a:rPr lang="en-US" sz="2200" b="0" i="0" u="none" strike="noStrike" cap="none" dirty="0">
                <a:solidFill>
                  <a:srgbClr val="DEFF9A"/>
                </a:solidFill>
                <a:latin typeface="Urbanist SemiBold"/>
                <a:ea typeface="Urbanist SemiBold"/>
                <a:cs typeface="Urbanist SemiBold"/>
                <a:sym typeface="Urbanist SemiBold"/>
              </a:rPr>
              <a:t> </a:t>
            </a:r>
            <a:r>
              <a:rPr lang="en-US" sz="2200" b="0" i="0" u="none" strike="noStrike" cap="none" dirty="0" err="1">
                <a:solidFill>
                  <a:srgbClr val="DEFF9A"/>
                </a:solidFill>
                <a:latin typeface="Urbanist SemiBold"/>
                <a:ea typeface="Urbanist SemiBold"/>
                <a:cs typeface="Urbanist SemiBold"/>
                <a:sym typeface="Urbanist SemiBold"/>
              </a:rPr>
              <a:t>datelor</a:t>
            </a:r>
            <a:r>
              <a:rPr lang="en-US" sz="2200" b="0" i="0" u="none" strike="noStrike" cap="none" dirty="0">
                <a:solidFill>
                  <a:srgbClr val="DEFF9A"/>
                </a:solidFill>
                <a:latin typeface="Urbanist SemiBold"/>
                <a:ea typeface="Urbanist SemiBold"/>
                <a:cs typeface="Urbanist SemiBold"/>
                <a:sym typeface="Urbanist SemiBold"/>
              </a:rPr>
              <a:t>:</a:t>
            </a:r>
            <a:r>
              <a:rPr lang="en-US" sz="2200" b="0" i="0" u="none" strike="noStrike" cap="none" dirty="0">
                <a:solidFill>
                  <a:srgbClr val="E2E8F0"/>
                </a:solidFill>
                <a:latin typeface="Urbanist"/>
                <a:ea typeface="Urbanist"/>
                <a:cs typeface="Urbanist"/>
                <a:sym typeface="Urbanist"/>
              </a:rPr>
              <a:t> One-Hot Encoding </a:t>
            </a:r>
            <a:r>
              <a:rPr lang="en-US" sz="2200" b="0" i="0" u="none" strike="noStrike" cap="none" dirty="0" err="1">
                <a:solidFill>
                  <a:srgbClr val="E2E8F0"/>
                </a:solidFill>
                <a:latin typeface="Urbanist"/>
                <a:ea typeface="Urbanist"/>
                <a:cs typeface="Urbanist"/>
                <a:sym typeface="Urbanist"/>
              </a:rPr>
              <a:t>pentru</a:t>
            </a:r>
            <a:r>
              <a:rPr lang="en-US" sz="2200" b="0" i="0" u="none" strike="noStrike" cap="none" dirty="0">
                <a:solidFill>
                  <a:srgbClr val="E2E8F0"/>
                </a:solidFill>
                <a:latin typeface="Urbanist"/>
                <a:ea typeface="Urbanist"/>
                <a:cs typeface="Urbanist"/>
                <a:sym typeface="Urbanist"/>
              </a:rPr>
              <a:t> </a:t>
            </a:r>
            <a:r>
              <a:rPr lang="en-US" sz="2200" b="0" i="0" u="none" strike="noStrike" cap="none" dirty="0" err="1">
                <a:solidFill>
                  <a:srgbClr val="E2E8F0"/>
                </a:solidFill>
                <a:latin typeface="Urbanist"/>
                <a:ea typeface="Urbanist"/>
                <a:cs typeface="Urbanist"/>
                <a:sym typeface="Urbanist"/>
              </a:rPr>
              <a:t>variabila</a:t>
            </a:r>
            <a:r>
              <a:rPr lang="en-US" sz="2200" b="0" i="0" u="none" strike="noStrike" cap="none" dirty="0">
                <a:solidFill>
                  <a:srgbClr val="E2E8F0"/>
                </a:solidFill>
                <a:latin typeface="Urbanist"/>
                <a:ea typeface="Urbanist"/>
                <a:cs typeface="Urbanist"/>
                <a:sym typeface="Urbanist"/>
              </a:rPr>
              <a:t> de gen, </a:t>
            </a:r>
            <a:r>
              <a:rPr lang="en-US" sz="2200" b="0" i="0" u="none" strike="noStrike" cap="none" dirty="0" err="1">
                <a:solidFill>
                  <a:srgbClr val="E2E8F0"/>
                </a:solidFill>
                <a:latin typeface="Urbanist"/>
                <a:ea typeface="Urbanist"/>
                <a:cs typeface="Urbanist"/>
                <a:sym typeface="Urbanist"/>
              </a:rPr>
              <a:t>eliminarea</a:t>
            </a:r>
            <a:r>
              <a:rPr lang="en-US" sz="2200" b="0" i="0" u="none" strike="noStrike" cap="none" dirty="0">
                <a:solidFill>
                  <a:srgbClr val="E2E8F0"/>
                </a:solidFill>
                <a:latin typeface="Urbanist"/>
                <a:ea typeface="Urbanist"/>
                <a:cs typeface="Urbanist"/>
                <a:sym typeface="Urbanist"/>
              </a:rPr>
              <a:t> </a:t>
            </a:r>
            <a:r>
              <a:rPr lang="en-US" sz="2200" b="0" i="0" u="none" strike="noStrike" cap="none" dirty="0" err="1">
                <a:solidFill>
                  <a:srgbClr val="E2E8F0"/>
                </a:solidFill>
                <a:latin typeface="Urbanist"/>
                <a:ea typeface="Urbanist"/>
                <a:cs typeface="Urbanist"/>
                <a:sym typeface="Urbanist"/>
              </a:rPr>
              <a:t>identificatorului</a:t>
            </a:r>
            <a:r>
              <a:rPr lang="en-US" sz="2200" b="0" i="0" u="none" strike="noStrike" cap="none" dirty="0">
                <a:solidFill>
                  <a:srgbClr val="E2E8F0"/>
                </a:solidFill>
                <a:latin typeface="Urbanist"/>
                <a:ea typeface="Urbanist"/>
                <a:cs typeface="Urbanist"/>
                <a:sym typeface="Urbanist"/>
              </a:rPr>
              <a:t> </a:t>
            </a:r>
            <a:r>
              <a:rPr lang="en-US" sz="2200" b="0" i="1" u="none" strike="noStrike" cap="none" dirty="0" err="1">
                <a:solidFill>
                  <a:srgbClr val="E2E8F0"/>
                </a:solidFill>
                <a:latin typeface="Urbanist"/>
                <a:ea typeface="Urbanist"/>
                <a:cs typeface="Urbanist"/>
                <a:sym typeface="Urbanist"/>
              </a:rPr>
              <a:t>student_id</a:t>
            </a:r>
            <a:r>
              <a:rPr lang="en-US" sz="2200" b="0" i="0" u="none" strike="noStrike" cap="none" dirty="0">
                <a:solidFill>
                  <a:srgbClr val="E2E8F0"/>
                </a:solidFill>
                <a:latin typeface="Urbanist"/>
                <a:ea typeface="Urbanist"/>
                <a:cs typeface="Urbanist"/>
                <a:sym typeface="Urbanist"/>
              </a:rPr>
              <a:t> </a:t>
            </a:r>
            <a:r>
              <a:rPr lang="en-US" sz="2200" b="0" i="0" u="none" strike="noStrike" cap="none" dirty="0" err="1">
                <a:solidFill>
                  <a:srgbClr val="E2E8F0"/>
                </a:solidFill>
                <a:latin typeface="Urbanist"/>
                <a:ea typeface="Urbanist"/>
                <a:cs typeface="Urbanist"/>
                <a:sym typeface="Urbanist"/>
              </a:rPr>
              <a:t>și</a:t>
            </a:r>
            <a:r>
              <a:rPr lang="en-US" sz="2200" b="0" i="0" u="none" strike="noStrike" cap="none" dirty="0">
                <a:solidFill>
                  <a:srgbClr val="E2E8F0"/>
                </a:solidFill>
                <a:latin typeface="Urbanist"/>
                <a:ea typeface="Urbanist"/>
                <a:cs typeface="Urbanist"/>
                <a:sym typeface="Urbanist"/>
              </a:rPr>
              <a:t> </a:t>
            </a:r>
            <a:r>
              <a:rPr lang="en-US" sz="2200" b="0" i="0" u="none" strike="noStrike" cap="none" dirty="0" err="1">
                <a:solidFill>
                  <a:srgbClr val="E2E8F0"/>
                </a:solidFill>
                <a:latin typeface="Urbanist"/>
                <a:ea typeface="Urbanist"/>
                <a:cs typeface="Urbanist"/>
                <a:sym typeface="Urbanist"/>
              </a:rPr>
              <a:t>conversia</a:t>
            </a:r>
            <a:r>
              <a:rPr lang="en-US" sz="2200" b="0" i="0" u="none" strike="noStrike" cap="none" dirty="0">
                <a:solidFill>
                  <a:srgbClr val="E2E8F0"/>
                </a:solidFill>
                <a:latin typeface="Urbanist"/>
                <a:ea typeface="Urbanist"/>
                <a:cs typeface="Urbanist"/>
                <a:sym typeface="Urbanist"/>
              </a:rPr>
              <a:t> </a:t>
            </a:r>
            <a:r>
              <a:rPr lang="en-US" sz="2200" b="0" i="0" u="none" strike="noStrike" cap="none" dirty="0" err="1">
                <a:solidFill>
                  <a:srgbClr val="E2E8F0"/>
                </a:solidFill>
                <a:latin typeface="Urbanist"/>
                <a:ea typeface="Urbanist"/>
                <a:cs typeface="Urbanist"/>
                <a:sym typeface="Urbanist"/>
              </a:rPr>
              <a:t>intervalelor</a:t>
            </a:r>
            <a:r>
              <a:rPr lang="en-US" sz="2200" b="0" i="0" u="none" strike="noStrike" cap="none" dirty="0">
                <a:solidFill>
                  <a:srgbClr val="E2E8F0"/>
                </a:solidFill>
                <a:latin typeface="Urbanist"/>
                <a:ea typeface="Urbanist"/>
                <a:cs typeface="Urbanist"/>
                <a:sym typeface="Urbanist"/>
              </a:rPr>
              <a:t> </a:t>
            </a:r>
            <a:r>
              <a:rPr lang="en-US" sz="2200" b="0" i="0" u="none" strike="noStrike" cap="none" dirty="0" err="1">
                <a:solidFill>
                  <a:srgbClr val="E2E8F0"/>
                </a:solidFill>
                <a:latin typeface="Urbanist"/>
                <a:ea typeface="Urbanist"/>
                <a:cs typeface="Urbanist"/>
                <a:sym typeface="Urbanist"/>
              </a:rPr>
              <a:t>în</a:t>
            </a:r>
            <a:r>
              <a:rPr lang="en-US" sz="2200" b="0" i="0" u="none" strike="noStrike" cap="none" dirty="0">
                <a:solidFill>
                  <a:srgbClr val="E2E8F0"/>
                </a:solidFill>
                <a:latin typeface="Urbanist"/>
                <a:ea typeface="Urbanist"/>
                <a:cs typeface="Urbanist"/>
                <a:sym typeface="Urbanist"/>
              </a:rPr>
              <a:t> </a:t>
            </a:r>
            <a:r>
              <a:rPr lang="en-US" sz="2200" b="0" i="0" u="none" strike="noStrike" cap="none" dirty="0" err="1">
                <a:solidFill>
                  <a:srgbClr val="E2E8F0"/>
                </a:solidFill>
                <a:latin typeface="Urbanist"/>
                <a:ea typeface="Urbanist"/>
                <a:cs typeface="Urbanist"/>
                <a:sym typeface="Urbanist"/>
              </a:rPr>
              <a:t>valori</a:t>
            </a:r>
            <a:r>
              <a:rPr lang="en-US" sz="2200" b="0" i="0" u="none" strike="noStrike" cap="none" dirty="0">
                <a:solidFill>
                  <a:srgbClr val="E2E8F0"/>
                </a:solidFill>
                <a:latin typeface="Urbanist"/>
                <a:ea typeface="Urbanist"/>
                <a:cs typeface="Urbanist"/>
                <a:sym typeface="Urbanist"/>
              </a:rPr>
              <a:t> </a:t>
            </a:r>
            <a:r>
              <a:rPr lang="en-US" sz="2200" b="0" i="0" u="none" strike="noStrike" cap="none" dirty="0" err="1">
                <a:solidFill>
                  <a:srgbClr val="E2E8F0"/>
                </a:solidFill>
                <a:latin typeface="Urbanist"/>
                <a:ea typeface="Urbanist"/>
                <a:cs typeface="Urbanist"/>
                <a:sym typeface="Urbanist"/>
              </a:rPr>
              <a:t>numerice</a:t>
            </a:r>
            <a:endParaRPr sz="2200" dirty="0">
              <a:solidFill>
                <a:srgbClr val="E2E8F0"/>
              </a:solidFill>
              <a:latin typeface="Urbanist"/>
              <a:ea typeface="Urbanist"/>
              <a:cs typeface="Urbanist"/>
              <a:sym typeface="Urbanist"/>
            </a:endParaRPr>
          </a:p>
          <a:p>
            <a:pPr marL="457200" marR="0" lvl="0" indent="-368300" algn="just" rtl="0">
              <a:lnSpc>
                <a:spcPct val="150000"/>
              </a:lnSpc>
              <a:spcBef>
                <a:spcPts val="0"/>
              </a:spcBef>
              <a:spcAft>
                <a:spcPts val="0"/>
              </a:spcAft>
              <a:buClr>
                <a:srgbClr val="DEFF9A"/>
              </a:buClr>
              <a:buSzPts val="2200"/>
              <a:buChar char="●"/>
            </a:pPr>
            <a:r>
              <a:rPr lang="en-US" sz="2200" dirty="0">
                <a:solidFill>
                  <a:srgbClr val="DEFF9A"/>
                </a:solidFill>
                <a:latin typeface="Urbanist SemiBold"/>
                <a:ea typeface="Urbanist SemiBold"/>
                <a:cs typeface="Urbanist SemiBold"/>
                <a:sym typeface="Urbanist SemiBold"/>
              </a:rPr>
              <a:t>Feature engineering:</a:t>
            </a:r>
            <a:r>
              <a:rPr lang="en-US" sz="2200" dirty="0">
                <a:solidFill>
                  <a:srgbClr val="E2E8F0"/>
                </a:solidFill>
                <a:latin typeface="Urbanist"/>
                <a:ea typeface="Urbanist"/>
                <a:cs typeface="Urbanist"/>
                <a:sym typeface="Urbanist"/>
              </a:rPr>
              <a:t> </a:t>
            </a:r>
            <a:r>
              <a:rPr lang="en-US" sz="2200" dirty="0" err="1">
                <a:solidFill>
                  <a:srgbClr val="E2E8F0"/>
                </a:solidFill>
                <a:latin typeface="Urbanist"/>
                <a:ea typeface="Urbanist"/>
                <a:cs typeface="Urbanist"/>
                <a:sym typeface="Urbanist"/>
              </a:rPr>
              <a:t>Generarea</a:t>
            </a:r>
            <a:r>
              <a:rPr lang="en-US" sz="2200" dirty="0">
                <a:solidFill>
                  <a:srgbClr val="E2E8F0"/>
                </a:solidFill>
                <a:latin typeface="Urbanist"/>
                <a:ea typeface="Urbanist"/>
                <a:cs typeface="Urbanist"/>
                <a:sym typeface="Urbanist"/>
              </a:rPr>
              <a:t> </a:t>
            </a:r>
            <a:r>
              <a:rPr lang="en-US" sz="2200" dirty="0" err="1">
                <a:solidFill>
                  <a:srgbClr val="E2E8F0"/>
                </a:solidFill>
                <a:latin typeface="Urbanist"/>
                <a:ea typeface="Urbanist"/>
                <a:cs typeface="Urbanist"/>
                <a:sym typeface="Urbanist"/>
              </a:rPr>
              <a:t>variabilelor</a:t>
            </a:r>
            <a:r>
              <a:rPr lang="en-US" sz="2200" dirty="0">
                <a:solidFill>
                  <a:srgbClr val="E2E8F0"/>
                </a:solidFill>
                <a:latin typeface="Urbanist"/>
                <a:ea typeface="Urbanist"/>
                <a:cs typeface="Urbanist"/>
                <a:sym typeface="Urbanist"/>
              </a:rPr>
              <a:t> </a:t>
            </a:r>
            <a:r>
              <a:rPr lang="en-US" sz="2200" i="1" dirty="0" err="1">
                <a:solidFill>
                  <a:srgbClr val="E2E8F0"/>
                </a:solidFill>
                <a:latin typeface="Urbanist"/>
                <a:ea typeface="Urbanist"/>
                <a:cs typeface="Urbanist"/>
                <a:sym typeface="Urbanist"/>
              </a:rPr>
              <a:t>total_screen_time</a:t>
            </a:r>
            <a:r>
              <a:rPr lang="en-US" sz="2200" i="1" dirty="0">
                <a:solidFill>
                  <a:srgbClr val="E2E8F0"/>
                </a:solidFill>
                <a:latin typeface="Urbanist"/>
                <a:ea typeface="Urbanist"/>
                <a:cs typeface="Urbanist"/>
                <a:sym typeface="Urbanist"/>
              </a:rPr>
              <a:t>, </a:t>
            </a:r>
            <a:r>
              <a:rPr lang="en-US" sz="2200" i="1" dirty="0" err="1">
                <a:solidFill>
                  <a:srgbClr val="E2E8F0"/>
                </a:solidFill>
                <a:latin typeface="Urbanist"/>
                <a:ea typeface="Urbanist"/>
                <a:cs typeface="Urbanist"/>
                <a:sym typeface="Urbanist"/>
              </a:rPr>
              <a:t>study_efficiency</a:t>
            </a:r>
            <a:r>
              <a:rPr lang="en-US" sz="2200" dirty="0">
                <a:solidFill>
                  <a:srgbClr val="E2E8F0"/>
                </a:solidFill>
                <a:latin typeface="Urbanist"/>
                <a:ea typeface="Urbanist"/>
                <a:cs typeface="Urbanist"/>
                <a:sym typeface="Urbanist"/>
              </a:rPr>
              <a:t> </a:t>
            </a:r>
            <a:r>
              <a:rPr lang="en-US" sz="2200" dirty="0" err="1">
                <a:solidFill>
                  <a:srgbClr val="E2E8F0"/>
                </a:solidFill>
                <a:latin typeface="Urbanist"/>
                <a:ea typeface="Urbanist"/>
                <a:cs typeface="Urbanist"/>
                <a:sym typeface="Urbanist"/>
              </a:rPr>
              <a:t>și</a:t>
            </a:r>
            <a:r>
              <a:rPr lang="en-US" sz="2200" dirty="0">
                <a:solidFill>
                  <a:srgbClr val="E2E8F0"/>
                </a:solidFill>
                <a:latin typeface="Urbanist"/>
                <a:ea typeface="Urbanist"/>
                <a:cs typeface="Urbanist"/>
                <a:sym typeface="Urbanist"/>
              </a:rPr>
              <a:t> </a:t>
            </a:r>
            <a:r>
              <a:rPr lang="en-US" sz="2200" i="1" dirty="0" err="1">
                <a:solidFill>
                  <a:srgbClr val="E2E8F0"/>
                </a:solidFill>
                <a:latin typeface="Urbanist"/>
                <a:ea typeface="Urbanist"/>
                <a:cs typeface="Urbanist"/>
                <a:sym typeface="Urbanist"/>
              </a:rPr>
              <a:t>lifestyle_quality</a:t>
            </a:r>
            <a:endParaRPr sz="2200" dirty="0">
              <a:solidFill>
                <a:schemeClr val="dk1"/>
              </a:solidFill>
            </a:endParaRPr>
          </a:p>
          <a:p>
            <a:pPr marL="457200" lvl="0" indent="-368300" algn="just" rtl="0">
              <a:lnSpc>
                <a:spcPct val="150000"/>
              </a:lnSpc>
              <a:spcBef>
                <a:spcPts val="0"/>
              </a:spcBef>
              <a:spcAft>
                <a:spcPts val="0"/>
              </a:spcAft>
              <a:buClr>
                <a:srgbClr val="DEFF9A"/>
              </a:buClr>
              <a:buSzPts val="2200"/>
              <a:buFont typeface="Urbanist"/>
              <a:buChar char="●"/>
            </a:pPr>
            <a:r>
              <a:rPr lang="en-US" sz="2200" dirty="0">
                <a:solidFill>
                  <a:srgbClr val="DEFF9A"/>
                </a:solidFill>
                <a:latin typeface="Urbanist SemiBold"/>
                <a:ea typeface="Urbanist SemiBold"/>
                <a:cs typeface="Urbanist SemiBold"/>
                <a:sym typeface="Urbanist SemiBold"/>
              </a:rPr>
              <a:t>Final:</a:t>
            </a:r>
            <a:r>
              <a:rPr lang="en-US" sz="2200" dirty="0">
                <a:solidFill>
                  <a:srgbClr val="E2E8F0"/>
                </a:solidFill>
                <a:latin typeface="Urbanist"/>
                <a:ea typeface="Urbanist"/>
                <a:cs typeface="Urbanist"/>
                <a:sym typeface="Urbanist"/>
              </a:rPr>
              <a:t> </a:t>
            </a:r>
            <a:r>
              <a:rPr lang="en-US" sz="2200" dirty="0" err="1">
                <a:solidFill>
                  <a:srgbClr val="E2E8F0"/>
                </a:solidFill>
                <a:latin typeface="Urbanist"/>
                <a:ea typeface="Urbanist"/>
                <a:cs typeface="Urbanist"/>
                <a:sym typeface="Urbanist"/>
              </a:rPr>
              <a:t>Reținerea</a:t>
            </a:r>
            <a:r>
              <a:rPr lang="en-US" sz="2200" dirty="0">
                <a:solidFill>
                  <a:srgbClr val="E2E8F0"/>
                </a:solidFill>
                <a:latin typeface="Urbanist"/>
                <a:ea typeface="Urbanist"/>
                <a:cs typeface="Urbanist"/>
                <a:sym typeface="Urbanist"/>
              </a:rPr>
              <a:t> a </a:t>
            </a:r>
            <a:r>
              <a:rPr lang="en-US" sz="2200" dirty="0" err="1">
                <a:solidFill>
                  <a:srgbClr val="E2E8F0"/>
                </a:solidFill>
                <a:latin typeface="Urbanist"/>
                <a:ea typeface="Urbanist"/>
                <a:cs typeface="Urbanist"/>
                <a:sym typeface="Urbanist"/>
              </a:rPr>
              <a:t>șapte</a:t>
            </a:r>
            <a:r>
              <a:rPr lang="en-US" sz="2200" dirty="0">
                <a:solidFill>
                  <a:srgbClr val="E2E8F0"/>
                </a:solidFill>
                <a:latin typeface="Urbanist"/>
                <a:ea typeface="Urbanist"/>
                <a:cs typeface="Urbanist"/>
                <a:sym typeface="Urbanist"/>
              </a:rPr>
              <a:t> </a:t>
            </a:r>
            <a:r>
              <a:rPr lang="en-US" sz="2200" dirty="0" err="1">
                <a:solidFill>
                  <a:srgbClr val="E2E8F0"/>
                </a:solidFill>
                <a:latin typeface="Urbanist"/>
                <a:ea typeface="Urbanist"/>
                <a:cs typeface="Urbanist"/>
                <a:sym typeface="Urbanist"/>
              </a:rPr>
              <a:t>caracteristici</a:t>
            </a:r>
            <a:r>
              <a:rPr lang="en-US" sz="2200" dirty="0">
                <a:solidFill>
                  <a:srgbClr val="E2E8F0"/>
                </a:solidFill>
                <a:latin typeface="Urbanist"/>
                <a:ea typeface="Urbanist"/>
                <a:cs typeface="Urbanist"/>
                <a:sym typeface="Urbanist"/>
              </a:rPr>
              <a:t> cu </a:t>
            </a:r>
            <a:r>
              <a:rPr lang="en-US" sz="2200" dirty="0" err="1">
                <a:solidFill>
                  <a:srgbClr val="E2E8F0"/>
                </a:solidFill>
                <a:latin typeface="Urbanist"/>
                <a:ea typeface="Urbanist"/>
                <a:cs typeface="Urbanist"/>
                <a:sym typeface="Urbanist"/>
              </a:rPr>
              <a:t>putere</a:t>
            </a:r>
            <a:r>
              <a:rPr lang="en-US" sz="2200" dirty="0">
                <a:solidFill>
                  <a:srgbClr val="E2E8F0"/>
                </a:solidFill>
                <a:latin typeface="Urbanist"/>
                <a:ea typeface="Urbanist"/>
                <a:cs typeface="Urbanist"/>
                <a:sym typeface="Urbanist"/>
              </a:rPr>
              <a:t> </a:t>
            </a:r>
            <a:r>
              <a:rPr lang="en-US" sz="2200" dirty="0" err="1">
                <a:solidFill>
                  <a:srgbClr val="E2E8F0"/>
                </a:solidFill>
                <a:latin typeface="Urbanist"/>
                <a:ea typeface="Urbanist"/>
                <a:cs typeface="Urbanist"/>
                <a:sym typeface="Urbanist"/>
              </a:rPr>
              <a:t>predictivă</a:t>
            </a:r>
            <a:r>
              <a:rPr lang="en-US" sz="2200" dirty="0">
                <a:solidFill>
                  <a:srgbClr val="E2E8F0"/>
                </a:solidFill>
                <a:latin typeface="Urbanist"/>
                <a:ea typeface="Urbanist"/>
                <a:cs typeface="Urbanist"/>
                <a:sym typeface="Urbanist"/>
              </a:rPr>
              <a:t> </a:t>
            </a:r>
            <a:r>
              <a:rPr lang="en-US" sz="2200" dirty="0" err="1">
                <a:solidFill>
                  <a:srgbClr val="E2E8F0"/>
                </a:solidFill>
                <a:latin typeface="Urbanist"/>
                <a:ea typeface="Urbanist"/>
                <a:cs typeface="Urbanist"/>
                <a:sym typeface="Urbanist"/>
              </a:rPr>
              <a:t>ridicată</a:t>
            </a:r>
            <a:r>
              <a:rPr lang="en-US" sz="2200" dirty="0">
                <a:solidFill>
                  <a:srgbClr val="E2E8F0"/>
                </a:solidFill>
                <a:latin typeface="Urbanist"/>
                <a:ea typeface="Urbanist"/>
                <a:cs typeface="Urbanist"/>
                <a:sym typeface="Urbanist"/>
              </a:rPr>
              <a:t> </a:t>
            </a:r>
            <a:r>
              <a:rPr lang="en-US" sz="2200" dirty="0" err="1">
                <a:solidFill>
                  <a:srgbClr val="E2E8F0"/>
                </a:solidFill>
                <a:latin typeface="Urbanist"/>
                <a:ea typeface="Urbanist"/>
                <a:cs typeface="Urbanist"/>
                <a:sym typeface="Urbanist"/>
              </a:rPr>
              <a:t>asupra</a:t>
            </a:r>
            <a:r>
              <a:rPr lang="en-US" sz="2200" dirty="0">
                <a:solidFill>
                  <a:srgbClr val="E2E8F0"/>
                </a:solidFill>
                <a:latin typeface="Urbanist"/>
                <a:ea typeface="Urbanist"/>
                <a:cs typeface="Urbanist"/>
                <a:sym typeface="Urbanist"/>
              </a:rPr>
              <a:t> </a:t>
            </a:r>
            <a:r>
              <a:rPr lang="en-US" sz="2200" dirty="0" err="1">
                <a:solidFill>
                  <a:srgbClr val="E2E8F0"/>
                </a:solidFill>
                <a:latin typeface="Urbanist"/>
                <a:ea typeface="Urbanist"/>
                <a:cs typeface="Urbanist"/>
                <a:sym typeface="Urbanist"/>
              </a:rPr>
              <a:t>targetului</a:t>
            </a:r>
            <a:r>
              <a:rPr lang="en-US" sz="2200" dirty="0">
                <a:solidFill>
                  <a:srgbClr val="E2E8F0"/>
                </a:solidFill>
                <a:latin typeface="Urbanist"/>
                <a:ea typeface="Urbanist"/>
                <a:cs typeface="Urbanist"/>
                <a:sym typeface="Urbanist"/>
              </a:rPr>
              <a:t>.</a:t>
            </a:r>
            <a:endParaRPr sz="2200" dirty="0">
              <a:solidFill>
                <a:schemeClr val="dk1"/>
              </a:solidFill>
            </a:endParaRPr>
          </a:p>
          <a:p>
            <a:pPr marL="0" marR="0" lvl="0" indent="0" algn="just" rtl="0">
              <a:lnSpc>
                <a:spcPct val="150000"/>
              </a:lnSpc>
              <a:spcBef>
                <a:spcPts val="0"/>
              </a:spcBef>
              <a:spcAft>
                <a:spcPts val="0"/>
              </a:spcAft>
              <a:buNone/>
            </a:pPr>
            <a:endParaRPr sz="2200" dirty="0">
              <a:solidFill>
                <a:srgbClr val="E2E8F0"/>
              </a:solidFill>
              <a:latin typeface="Urbanist"/>
              <a:ea typeface="Urbanist"/>
              <a:cs typeface="Urbanist"/>
              <a:sym typeface="Urbanist"/>
            </a:endParaRPr>
          </a:p>
        </p:txBody>
      </p:sp>
      <p:pic>
        <p:nvPicPr>
          <p:cNvPr id="102" name="Google Shape;102;p15"/>
          <p:cNvPicPr preferRelativeResize="0"/>
          <p:nvPr/>
        </p:nvPicPr>
        <p:blipFill>
          <a:blip r:embed="rId3">
            <a:alphaModFix/>
          </a:blip>
          <a:stretch>
            <a:fillRect/>
          </a:stretch>
        </p:blipFill>
        <p:spPr>
          <a:xfrm>
            <a:off x="6784455" y="1403363"/>
            <a:ext cx="4945900" cy="4355575"/>
          </a:xfrm>
          <a:prstGeom prst="rect">
            <a:avLst/>
          </a:prstGeom>
          <a:noFill/>
          <a:ln>
            <a:noFill/>
          </a:ln>
          <a:effectLst>
            <a:outerShdw blurRad="857250" dist="171450" dir="2160000" algn="bl" rotWithShape="0">
              <a:schemeClr val="lt1">
                <a:alpha val="80000"/>
              </a:scheme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06"/>
        <p:cNvGrpSpPr/>
        <p:nvPr/>
      </p:nvGrpSpPr>
      <p:grpSpPr>
        <a:xfrm>
          <a:off x="0" y="0"/>
          <a:ext cx="0" cy="0"/>
          <a:chOff x="0" y="0"/>
          <a:chExt cx="0" cy="0"/>
        </a:xfrm>
      </p:grpSpPr>
      <p:pic>
        <p:nvPicPr>
          <p:cNvPr id="107" name="Google Shape;107;p16" descr="image.png"/>
          <p:cNvPicPr preferRelativeResize="0"/>
          <p:nvPr/>
        </p:nvPicPr>
        <p:blipFill rotWithShape="1">
          <a:blip r:embed="rId3">
            <a:alphaModFix/>
          </a:blip>
          <a:srcRect/>
          <a:stretch/>
        </p:blipFill>
        <p:spPr>
          <a:xfrm>
            <a:off x="6353350" y="2030557"/>
            <a:ext cx="5286375" cy="3657600"/>
          </a:xfrm>
          <a:prstGeom prst="rect">
            <a:avLst/>
          </a:prstGeom>
          <a:noFill/>
          <a:ln>
            <a:noFill/>
          </a:ln>
        </p:spPr>
      </p:pic>
      <p:sp>
        <p:nvSpPr>
          <p:cNvPr id="108" name="Google Shape;108;p16"/>
          <p:cNvSpPr txBox="1"/>
          <p:nvPr/>
        </p:nvSpPr>
        <p:spPr>
          <a:xfrm>
            <a:off x="571500" y="950850"/>
            <a:ext cx="64674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dirty="0" err="1">
                <a:solidFill>
                  <a:srgbClr val="DEFF9A"/>
                </a:solidFill>
                <a:latin typeface="Urbanist"/>
                <a:ea typeface="Urbanist"/>
                <a:cs typeface="Urbanist"/>
                <a:sym typeface="Urbanist"/>
              </a:rPr>
              <a:t>Algoritmii</a:t>
            </a:r>
            <a:r>
              <a:rPr lang="en-US" sz="3600" b="1" dirty="0">
                <a:solidFill>
                  <a:srgbClr val="DEFF9A"/>
                </a:solidFill>
                <a:latin typeface="Urbanist"/>
                <a:ea typeface="Urbanist"/>
                <a:cs typeface="Urbanist"/>
                <a:sym typeface="Urbanist"/>
              </a:rPr>
              <a:t> </a:t>
            </a:r>
            <a:r>
              <a:rPr lang="en-US" sz="3600" b="1" dirty="0" err="1">
                <a:solidFill>
                  <a:srgbClr val="DEFF9A"/>
                </a:solidFill>
                <a:latin typeface="Urbanist"/>
                <a:ea typeface="Urbanist"/>
                <a:cs typeface="Urbanist"/>
                <a:sym typeface="Urbanist"/>
              </a:rPr>
              <a:t>utilizați</a:t>
            </a:r>
            <a:endParaRPr dirty="0"/>
          </a:p>
        </p:txBody>
      </p:sp>
      <p:sp>
        <p:nvSpPr>
          <p:cNvPr id="109" name="Google Shape;109;p16"/>
          <p:cNvSpPr txBox="1"/>
          <p:nvPr/>
        </p:nvSpPr>
        <p:spPr>
          <a:xfrm>
            <a:off x="6618738" y="2945828"/>
            <a:ext cx="4755600" cy="1862400"/>
          </a:xfrm>
          <a:prstGeom prst="rect">
            <a:avLst/>
          </a:prstGeom>
          <a:noFill/>
          <a:ln>
            <a:noFill/>
          </a:ln>
        </p:spPr>
        <p:txBody>
          <a:bodyPr spcFirstLastPara="1" wrap="square" lIns="0" tIns="0" rIns="0" bIns="0" anchor="t" anchorCtr="0">
            <a:spAutoFit/>
          </a:bodyPr>
          <a:lstStyle/>
          <a:p>
            <a:pPr marL="457200" marR="0" lvl="0" indent="-368300" algn="l" rtl="0">
              <a:lnSpc>
                <a:spcPct val="150000"/>
              </a:lnSpc>
              <a:spcBef>
                <a:spcPts val="0"/>
              </a:spcBef>
              <a:spcAft>
                <a:spcPts val="0"/>
              </a:spcAft>
              <a:buClr>
                <a:srgbClr val="DEFF9A"/>
              </a:buClr>
              <a:buSzPts val="2200"/>
              <a:buChar char="●"/>
            </a:pPr>
            <a:r>
              <a:rPr lang="en-US" sz="2200" b="0" i="0" u="none" strike="noStrike" cap="none">
                <a:solidFill>
                  <a:srgbClr val="DEFF9A"/>
                </a:solidFill>
                <a:latin typeface="Urbanist SemiBold"/>
                <a:ea typeface="Urbanist SemiBold"/>
                <a:cs typeface="Urbanist SemiBold"/>
                <a:sym typeface="Urbanist SemiBold"/>
              </a:rPr>
              <a:t>Split:</a:t>
            </a:r>
            <a:r>
              <a:rPr lang="en-US" sz="2200" b="0" i="0" u="none" strike="noStrike" cap="none">
                <a:solidFill>
                  <a:srgbClr val="E2E8F0"/>
                </a:solidFill>
                <a:latin typeface="Urbanist"/>
                <a:ea typeface="Urbanist"/>
                <a:cs typeface="Urbanist"/>
                <a:sym typeface="Urbanist"/>
              </a:rPr>
              <a:t> 80% Antrenare</a:t>
            </a:r>
            <a:r>
              <a:rPr lang="en-US" sz="2200">
                <a:solidFill>
                  <a:srgbClr val="E2E8F0"/>
                </a:solidFill>
                <a:latin typeface="Urbanist"/>
                <a:ea typeface="Urbanist"/>
                <a:cs typeface="Urbanist"/>
                <a:sym typeface="Urbanist"/>
              </a:rPr>
              <a:t> </a:t>
            </a:r>
            <a:r>
              <a:rPr lang="en-US" sz="2200" b="0" i="0" u="none" strike="noStrike" cap="none">
                <a:solidFill>
                  <a:srgbClr val="E2E8F0"/>
                </a:solidFill>
                <a:latin typeface="Urbanist"/>
                <a:ea typeface="Urbanist"/>
                <a:cs typeface="Urbanist"/>
                <a:sym typeface="Urbanist"/>
              </a:rPr>
              <a:t> 20% Testare </a:t>
            </a:r>
            <a:endParaRPr sz="2200" b="0" i="0" u="none" strike="noStrike" cap="none">
              <a:solidFill>
                <a:srgbClr val="E2E8F0"/>
              </a:solidFill>
              <a:latin typeface="Urbanist"/>
              <a:ea typeface="Urbanist"/>
              <a:cs typeface="Urbanist"/>
              <a:sym typeface="Urbanist"/>
            </a:endParaRPr>
          </a:p>
          <a:p>
            <a:pPr marL="457200" lvl="0" indent="-368300" algn="l" rtl="0">
              <a:lnSpc>
                <a:spcPct val="150000"/>
              </a:lnSpc>
              <a:spcBef>
                <a:spcPts val="0"/>
              </a:spcBef>
              <a:spcAft>
                <a:spcPts val="0"/>
              </a:spcAft>
              <a:buClr>
                <a:srgbClr val="DEFF9A"/>
              </a:buClr>
              <a:buSzPts val="2200"/>
              <a:buChar char="●"/>
            </a:pPr>
            <a:r>
              <a:rPr lang="en-US" sz="2200">
                <a:solidFill>
                  <a:srgbClr val="DEFF9A"/>
                </a:solidFill>
                <a:latin typeface="Urbanist SemiBold"/>
                <a:ea typeface="Urbanist SemiBold"/>
                <a:cs typeface="Urbanist SemiBold"/>
                <a:sym typeface="Urbanist SemiBold"/>
              </a:rPr>
              <a:t>Validare:</a:t>
            </a:r>
            <a:r>
              <a:rPr lang="en-US" sz="2200">
                <a:solidFill>
                  <a:srgbClr val="E2E8F0"/>
                </a:solidFill>
                <a:latin typeface="Urbanist"/>
                <a:ea typeface="Urbanist"/>
                <a:cs typeface="Urbanist"/>
                <a:sym typeface="Urbanist"/>
              </a:rPr>
              <a:t> 5-Fold Cross-Validation</a:t>
            </a:r>
            <a:endParaRPr sz="2200">
              <a:solidFill>
                <a:schemeClr val="dk1"/>
              </a:solidFill>
            </a:endParaRPr>
          </a:p>
          <a:p>
            <a:pPr marL="457200" lvl="0" indent="-368300" algn="l" rtl="0">
              <a:lnSpc>
                <a:spcPct val="150000"/>
              </a:lnSpc>
              <a:spcBef>
                <a:spcPts val="0"/>
              </a:spcBef>
              <a:spcAft>
                <a:spcPts val="0"/>
              </a:spcAft>
              <a:buClr>
                <a:srgbClr val="DEFF9A"/>
              </a:buClr>
              <a:buSzPts val="2200"/>
              <a:buChar char="●"/>
            </a:pPr>
            <a:r>
              <a:rPr lang="en-US" sz="2200">
                <a:solidFill>
                  <a:srgbClr val="DEFF9A"/>
                </a:solidFill>
                <a:latin typeface="Urbanist SemiBold"/>
                <a:ea typeface="Urbanist SemiBold"/>
                <a:cs typeface="Urbanist SemiBold"/>
                <a:sym typeface="Urbanist SemiBold"/>
              </a:rPr>
              <a:t>Optimizare:</a:t>
            </a:r>
            <a:r>
              <a:rPr lang="en-US" sz="2200">
                <a:solidFill>
                  <a:srgbClr val="E2E8F0"/>
                </a:solidFill>
                <a:latin typeface="Urbanist"/>
                <a:ea typeface="Urbanist"/>
                <a:cs typeface="Urbanist"/>
                <a:sym typeface="Urbanist"/>
              </a:rPr>
              <a:t> GridSearch pentru reglarea hiperparametrilor</a:t>
            </a:r>
            <a:endParaRPr sz="2200">
              <a:solidFill>
                <a:srgbClr val="E2E8F0"/>
              </a:solidFill>
              <a:latin typeface="Urbanist"/>
              <a:ea typeface="Urbanist"/>
              <a:cs typeface="Urbanist"/>
              <a:sym typeface="Urbanist"/>
            </a:endParaRPr>
          </a:p>
        </p:txBody>
      </p:sp>
      <p:pic>
        <p:nvPicPr>
          <p:cNvPr id="110" name="Google Shape;110;p16" descr="image.png"/>
          <p:cNvPicPr preferRelativeResize="0"/>
          <p:nvPr/>
        </p:nvPicPr>
        <p:blipFill rotWithShape="1">
          <a:blip r:embed="rId3">
            <a:alphaModFix/>
          </a:blip>
          <a:srcRect/>
          <a:stretch/>
        </p:blipFill>
        <p:spPr>
          <a:xfrm>
            <a:off x="571500" y="2030557"/>
            <a:ext cx="5286375" cy="3657600"/>
          </a:xfrm>
          <a:prstGeom prst="rect">
            <a:avLst/>
          </a:prstGeom>
          <a:noFill/>
          <a:ln>
            <a:noFill/>
          </a:ln>
        </p:spPr>
      </p:pic>
      <p:sp>
        <p:nvSpPr>
          <p:cNvPr id="111" name="Google Shape;111;p16"/>
          <p:cNvSpPr txBox="1"/>
          <p:nvPr/>
        </p:nvSpPr>
        <p:spPr>
          <a:xfrm>
            <a:off x="896113" y="2420103"/>
            <a:ext cx="4755600" cy="2878500"/>
          </a:xfrm>
          <a:prstGeom prst="rect">
            <a:avLst/>
          </a:prstGeom>
          <a:noFill/>
          <a:ln>
            <a:noFill/>
          </a:ln>
        </p:spPr>
        <p:txBody>
          <a:bodyPr spcFirstLastPara="1" wrap="square" lIns="0" tIns="0" rIns="0" bIns="0" anchor="t" anchorCtr="0">
            <a:spAutoFit/>
          </a:bodyPr>
          <a:lstStyle/>
          <a:p>
            <a:pPr marL="457200" lvl="0" indent="-368300" algn="l" rtl="0">
              <a:lnSpc>
                <a:spcPct val="150000"/>
              </a:lnSpc>
              <a:spcBef>
                <a:spcPts val="0"/>
              </a:spcBef>
              <a:spcAft>
                <a:spcPts val="0"/>
              </a:spcAft>
              <a:buClr>
                <a:srgbClr val="DEFF9A"/>
              </a:buClr>
              <a:buSzPts val="2200"/>
              <a:buFont typeface="Urbanist SemiBold"/>
              <a:buChar char="●"/>
            </a:pPr>
            <a:r>
              <a:rPr lang="en-US" sz="2200" dirty="0">
                <a:solidFill>
                  <a:srgbClr val="DEFF9A"/>
                </a:solidFill>
                <a:latin typeface="Urbanist SemiBold"/>
                <a:ea typeface="Urbanist SemiBold"/>
                <a:cs typeface="Urbanist SemiBold"/>
                <a:sym typeface="Urbanist SemiBold"/>
              </a:rPr>
              <a:t>Ridge Regression</a:t>
            </a:r>
            <a:endParaRPr sz="2200" dirty="0">
              <a:solidFill>
                <a:srgbClr val="DEFF9A"/>
              </a:solidFill>
              <a:latin typeface="Urbanist SemiBold"/>
              <a:ea typeface="Urbanist SemiBold"/>
              <a:cs typeface="Urbanist SemiBold"/>
              <a:sym typeface="Urbanist SemiBold"/>
            </a:endParaRPr>
          </a:p>
          <a:p>
            <a:pPr marL="457200" lvl="0" indent="-368300" algn="l" rtl="0">
              <a:lnSpc>
                <a:spcPct val="150000"/>
              </a:lnSpc>
              <a:spcBef>
                <a:spcPts val="0"/>
              </a:spcBef>
              <a:spcAft>
                <a:spcPts val="0"/>
              </a:spcAft>
              <a:buClr>
                <a:srgbClr val="DEFF9A"/>
              </a:buClr>
              <a:buSzPts val="2200"/>
              <a:buFont typeface="Urbanist SemiBold"/>
              <a:buChar char="●"/>
            </a:pPr>
            <a:r>
              <a:rPr lang="en-US" sz="2200" dirty="0">
                <a:solidFill>
                  <a:srgbClr val="DEFF9A"/>
                </a:solidFill>
                <a:latin typeface="Urbanist SemiBold"/>
                <a:ea typeface="Urbanist SemiBold"/>
                <a:cs typeface="Urbanist SemiBold"/>
                <a:sym typeface="Urbanist SemiBold"/>
              </a:rPr>
              <a:t>Gradient Boosting Tuned</a:t>
            </a:r>
            <a:endParaRPr sz="2200" dirty="0">
              <a:solidFill>
                <a:srgbClr val="DEFF9A"/>
              </a:solidFill>
              <a:latin typeface="Urbanist SemiBold"/>
              <a:ea typeface="Urbanist SemiBold"/>
              <a:cs typeface="Urbanist SemiBold"/>
              <a:sym typeface="Urbanist SemiBold"/>
            </a:endParaRPr>
          </a:p>
          <a:p>
            <a:pPr marL="457200" lvl="0" indent="-368300" algn="l" rtl="0">
              <a:lnSpc>
                <a:spcPct val="150000"/>
              </a:lnSpc>
              <a:spcBef>
                <a:spcPts val="0"/>
              </a:spcBef>
              <a:spcAft>
                <a:spcPts val="0"/>
              </a:spcAft>
              <a:buClr>
                <a:srgbClr val="DEFF9A"/>
              </a:buClr>
              <a:buSzPts val="2200"/>
              <a:buFont typeface="Urbanist SemiBold"/>
              <a:buChar char="●"/>
            </a:pPr>
            <a:r>
              <a:rPr lang="en-US" sz="2200" dirty="0">
                <a:solidFill>
                  <a:srgbClr val="DEFF9A"/>
                </a:solidFill>
                <a:latin typeface="Urbanist SemiBold"/>
                <a:ea typeface="Urbanist SemiBold"/>
                <a:cs typeface="Urbanist SemiBold"/>
                <a:sym typeface="Urbanist SemiBold"/>
              </a:rPr>
              <a:t>Random Forest Tuned</a:t>
            </a:r>
            <a:endParaRPr sz="2200" dirty="0">
              <a:solidFill>
                <a:srgbClr val="DEFF9A"/>
              </a:solidFill>
              <a:latin typeface="Urbanist SemiBold"/>
              <a:ea typeface="Urbanist SemiBold"/>
              <a:cs typeface="Urbanist SemiBold"/>
              <a:sym typeface="Urbanist SemiBold"/>
            </a:endParaRPr>
          </a:p>
          <a:p>
            <a:pPr marL="457200" lvl="0" indent="-368300" algn="l" rtl="0">
              <a:lnSpc>
                <a:spcPct val="150000"/>
              </a:lnSpc>
              <a:spcBef>
                <a:spcPts val="0"/>
              </a:spcBef>
              <a:spcAft>
                <a:spcPts val="0"/>
              </a:spcAft>
              <a:buClr>
                <a:srgbClr val="DEFF9A"/>
              </a:buClr>
              <a:buSzPts val="2200"/>
              <a:buFont typeface="Urbanist SemiBold"/>
              <a:buChar char="●"/>
            </a:pPr>
            <a:r>
              <a:rPr lang="en-US" sz="2200" dirty="0">
                <a:solidFill>
                  <a:srgbClr val="DEFF9A"/>
                </a:solidFill>
                <a:latin typeface="Urbanist SemiBold"/>
                <a:ea typeface="Urbanist SemiBold"/>
                <a:cs typeface="Urbanist SemiBold"/>
                <a:sym typeface="Urbanist SemiBold"/>
              </a:rPr>
              <a:t>Decision Tree Tuned</a:t>
            </a:r>
            <a:endParaRPr sz="2200" dirty="0">
              <a:solidFill>
                <a:srgbClr val="DEFF9A"/>
              </a:solidFill>
              <a:latin typeface="Urbanist SemiBold"/>
              <a:ea typeface="Urbanist SemiBold"/>
              <a:cs typeface="Urbanist SemiBold"/>
              <a:sym typeface="Urbanist SemiBold"/>
            </a:endParaRPr>
          </a:p>
          <a:p>
            <a:pPr marL="457200" lvl="0" indent="-368300" algn="l" rtl="0">
              <a:lnSpc>
                <a:spcPct val="150000"/>
              </a:lnSpc>
              <a:spcBef>
                <a:spcPts val="0"/>
              </a:spcBef>
              <a:spcAft>
                <a:spcPts val="0"/>
              </a:spcAft>
              <a:buClr>
                <a:srgbClr val="DEFF9A"/>
              </a:buClr>
              <a:buSzPts val="2200"/>
              <a:buFont typeface="Urbanist SemiBold"/>
              <a:buChar char="●"/>
            </a:pPr>
            <a:r>
              <a:rPr lang="en-US" sz="2200" dirty="0">
                <a:solidFill>
                  <a:srgbClr val="DEFF9A"/>
                </a:solidFill>
                <a:latin typeface="Urbanist SemiBold"/>
                <a:ea typeface="Urbanist SemiBold"/>
                <a:cs typeface="Urbanist SemiBold"/>
                <a:sym typeface="Urbanist SemiBold"/>
              </a:rPr>
              <a:t>Stacking Regressor</a:t>
            </a:r>
            <a:endParaRPr sz="2200" dirty="0">
              <a:solidFill>
                <a:srgbClr val="DEFF9A"/>
              </a:solidFill>
              <a:latin typeface="Urbanist SemiBold"/>
              <a:ea typeface="Urbanist SemiBold"/>
              <a:cs typeface="Urbanist SemiBold"/>
              <a:sym typeface="Urbanist SemiBold"/>
            </a:endParaRPr>
          </a:p>
          <a:p>
            <a:pPr marL="457200" lvl="0" indent="-368300" algn="l" rtl="0">
              <a:lnSpc>
                <a:spcPct val="150000"/>
              </a:lnSpc>
              <a:spcBef>
                <a:spcPts val="0"/>
              </a:spcBef>
              <a:spcAft>
                <a:spcPts val="0"/>
              </a:spcAft>
              <a:buClr>
                <a:srgbClr val="DEFF9A"/>
              </a:buClr>
              <a:buSzPts val="2200"/>
              <a:buFont typeface="Urbanist SemiBold"/>
              <a:buChar char="●"/>
            </a:pPr>
            <a:r>
              <a:rPr lang="en-US" sz="2200" dirty="0">
                <a:solidFill>
                  <a:srgbClr val="DEFF9A"/>
                </a:solidFill>
                <a:latin typeface="Urbanist SemiBold"/>
                <a:ea typeface="Urbanist SemiBold"/>
                <a:cs typeface="Urbanist SemiBold"/>
                <a:sym typeface="Urbanist SemiBold"/>
              </a:rPr>
              <a:t>Voting Regressor</a:t>
            </a:r>
            <a:endParaRPr sz="2200" dirty="0">
              <a:solidFill>
                <a:srgbClr val="DEFF9A"/>
              </a:solidFill>
              <a:latin typeface="Urbanist SemiBold"/>
              <a:ea typeface="Urbanist SemiBold"/>
              <a:cs typeface="Urbanist SemiBold"/>
              <a:sym typeface="Urbanist Semi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15"/>
        <p:cNvGrpSpPr/>
        <p:nvPr/>
      </p:nvGrpSpPr>
      <p:grpSpPr>
        <a:xfrm>
          <a:off x="0" y="0"/>
          <a:ext cx="0" cy="0"/>
          <a:chOff x="0" y="0"/>
          <a:chExt cx="0" cy="0"/>
        </a:xfrm>
      </p:grpSpPr>
      <p:sp>
        <p:nvSpPr>
          <p:cNvPr id="116" name="Google Shape;116;p17"/>
          <p:cNvSpPr txBox="1"/>
          <p:nvPr/>
        </p:nvSpPr>
        <p:spPr>
          <a:xfrm>
            <a:off x="582800" y="532825"/>
            <a:ext cx="83388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a:solidFill>
                  <a:srgbClr val="DEFF9A"/>
                </a:solidFill>
                <a:latin typeface="Urbanist"/>
                <a:ea typeface="Urbanist"/>
                <a:cs typeface="Urbanist"/>
                <a:sym typeface="Urbanist"/>
              </a:rPr>
              <a:t>Comparație, performanțe, decizii</a:t>
            </a:r>
            <a:endParaRPr/>
          </a:p>
        </p:txBody>
      </p:sp>
      <p:sp>
        <p:nvSpPr>
          <p:cNvPr id="117" name="Google Shape;117;p17"/>
          <p:cNvSpPr txBox="1"/>
          <p:nvPr/>
        </p:nvSpPr>
        <p:spPr>
          <a:xfrm>
            <a:off x="571500" y="5217144"/>
            <a:ext cx="11049000" cy="923400"/>
          </a:xfrm>
          <a:prstGeom prst="rect">
            <a:avLst/>
          </a:prstGeom>
          <a:noFill/>
          <a:ln>
            <a:noFill/>
          </a:ln>
        </p:spPr>
        <p:txBody>
          <a:bodyPr spcFirstLastPara="1" wrap="square" lIns="0" tIns="0" rIns="0" bIns="0" anchor="t" anchorCtr="0">
            <a:spAutoFit/>
          </a:bodyPr>
          <a:lstStyle/>
          <a:p>
            <a:pPr marL="0" marR="0" lvl="0" indent="0" algn="just" rtl="0">
              <a:lnSpc>
                <a:spcPct val="150000"/>
              </a:lnSpc>
              <a:spcBef>
                <a:spcPts val="0"/>
              </a:spcBef>
              <a:spcAft>
                <a:spcPts val="0"/>
              </a:spcAft>
              <a:buNone/>
            </a:pPr>
            <a:r>
              <a:rPr lang="en-US" sz="2400" b="0" i="0" u="none" strike="noStrike" cap="none" dirty="0" err="1">
                <a:solidFill>
                  <a:srgbClr val="DEFF9A"/>
                </a:solidFill>
                <a:latin typeface="Urbanist"/>
                <a:ea typeface="Urbanist"/>
                <a:cs typeface="Urbanist"/>
                <a:sym typeface="Urbanist"/>
              </a:rPr>
              <a:t>Alegerea</a:t>
            </a:r>
            <a:r>
              <a:rPr lang="en-US" sz="2400" b="0" i="0" u="none" strike="noStrike" cap="none" dirty="0">
                <a:solidFill>
                  <a:srgbClr val="DEFF9A"/>
                </a:solidFill>
                <a:latin typeface="Urbanist"/>
                <a:ea typeface="Urbanist"/>
                <a:cs typeface="Urbanist"/>
                <a:sym typeface="Urbanist"/>
              </a:rPr>
              <a:t> </a:t>
            </a:r>
            <a:r>
              <a:rPr lang="en-US" sz="2400" b="0" i="0" u="none" strike="noStrike" cap="none" dirty="0" err="1">
                <a:solidFill>
                  <a:srgbClr val="DEFF9A"/>
                </a:solidFill>
                <a:latin typeface="Urbanist"/>
                <a:ea typeface="Urbanist"/>
                <a:cs typeface="Urbanist"/>
                <a:sym typeface="Urbanist"/>
              </a:rPr>
              <a:t>finală</a:t>
            </a:r>
            <a:r>
              <a:rPr lang="en-US" sz="2400" dirty="0">
                <a:solidFill>
                  <a:srgbClr val="DEFF9A"/>
                </a:solidFill>
                <a:latin typeface="Urbanist"/>
                <a:ea typeface="Urbanist"/>
                <a:cs typeface="Urbanist"/>
                <a:sym typeface="Urbanist"/>
              </a:rPr>
              <a:t> -</a:t>
            </a:r>
            <a:r>
              <a:rPr lang="en-US" sz="2400" b="0" i="0" u="none" strike="noStrike" cap="none" dirty="0">
                <a:solidFill>
                  <a:srgbClr val="DEFF9A"/>
                </a:solidFill>
                <a:latin typeface="Urbanist"/>
                <a:ea typeface="Urbanist"/>
                <a:cs typeface="Urbanist"/>
                <a:sym typeface="Urbanist"/>
              </a:rPr>
              <a:t> </a:t>
            </a:r>
            <a:r>
              <a:rPr lang="en-US" sz="2400" b="1" i="0" u="none" strike="noStrike" cap="none" dirty="0">
                <a:solidFill>
                  <a:srgbClr val="DEFF9A"/>
                </a:solidFill>
                <a:latin typeface="Urbanist"/>
                <a:ea typeface="Urbanist"/>
                <a:cs typeface="Urbanist"/>
                <a:sym typeface="Urbanist"/>
              </a:rPr>
              <a:t>Gradient Boosting Tun</a:t>
            </a:r>
            <a:r>
              <a:rPr lang="en-US" sz="2400" b="1" dirty="0">
                <a:solidFill>
                  <a:srgbClr val="DEFF9A"/>
                </a:solidFill>
                <a:latin typeface="Urbanist"/>
                <a:ea typeface="Urbanist"/>
                <a:cs typeface="Urbanist"/>
                <a:sym typeface="Urbanist"/>
              </a:rPr>
              <a:t>ed,</a:t>
            </a:r>
            <a:r>
              <a:rPr lang="en-US" sz="2400" b="0" i="0" u="none" strike="noStrike" cap="none" dirty="0">
                <a:solidFill>
                  <a:srgbClr val="DEFF9A"/>
                </a:solidFill>
                <a:latin typeface="Urbanist"/>
                <a:ea typeface="Urbanist"/>
                <a:cs typeface="Urbanist"/>
                <a:sym typeface="Urbanist"/>
              </a:rPr>
              <a:t> </a:t>
            </a:r>
            <a:r>
              <a:rPr lang="en-US" sz="2400" b="0" i="0" u="none" strike="noStrike" cap="none" dirty="0" err="1">
                <a:solidFill>
                  <a:srgbClr val="DEFF9A"/>
                </a:solidFill>
                <a:latin typeface="Urbanist"/>
                <a:ea typeface="Urbanist"/>
                <a:cs typeface="Urbanist"/>
                <a:sym typeface="Urbanist"/>
              </a:rPr>
              <a:t>datorită</a:t>
            </a:r>
            <a:r>
              <a:rPr lang="en-US" sz="2400" b="0" i="0" u="none" strike="noStrike" cap="none" dirty="0">
                <a:solidFill>
                  <a:srgbClr val="DEFF9A"/>
                </a:solidFill>
                <a:latin typeface="Urbanist"/>
                <a:ea typeface="Urbanist"/>
                <a:cs typeface="Urbanist"/>
                <a:sym typeface="Urbanist"/>
              </a:rPr>
              <a:t> </a:t>
            </a:r>
            <a:r>
              <a:rPr lang="en-US" sz="2400" b="0" i="0" u="none" strike="noStrike" cap="none" dirty="0" err="1">
                <a:solidFill>
                  <a:srgbClr val="DEFF9A"/>
                </a:solidFill>
                <a:latin typeface="Urbanist"/>
                <a:ea typeface="Urbanist"/>
                <a:cs typeface="Urbanist"/>
                <a:sym typeface="Urbanist"/>
              </a:rPr>
              <a:t>echilibrului</a:t>
            </a:r>
            <a:r>
              <a:rPr lang="en-US" sz="2400" b="0" i="0" u="none" strike="noStrike" cap="none" dirty="0">
                <a:solidFill>
                  <a:srgbClr val="DEFF9A"/>
                </a:solidFill>
                <a:latin typeface="Urbanist"/>
                <a:ea typeface="Urbanist"/>
                <a:cs typeface="Urbanist"/>
                <a:sym typeface="Urbanist"/>
              </a:rPr>
              <a:t> </a:t>
            </a:r>
            <a:r>
              <a:rPr lang="en-US" sz="2400" dirty="0" err="1">
                <a:solidFill>
                  <a:srgbClr val="DEFF9A"/>
                </a:solidFill>
                <a:latin typeface="Urbanist"/>
                <a:ea typeface="Urbanist"/>
                <a:cs typeface="Urbanist"/>
                <a:sym typeface="Urbanist"/>
              </a:rPr>
              <a:t>di</a:t>
            </a:r>
            <a:r>
              <a:rPr lang="en-US" sz="2400" b="0" i="0" u="none" strike="noStrike" cap="none" dirty="0" err="1">
                <a:solidFill>
                  <a:srgbClr val="DEFF9A"/>
                </a:solidFill>
                <a:latin typeface="Urbanist"/>
                <a:ea typeface="Urbanist"/>
                <a:cs typeface="Urbanist"/>
                <a:sym typeface="Urbanist"/>
              </a:rPr>
              <a:t>ntre</a:t>
            </a:r>
            <a:r>
              <a:rPr lang="en-US" sz="2400" b="0" i="0" u="none" strike="noStrike" cap="none" dirty="0">
                <a:solidFill>
                  <a:srgbClr val="DEFF9A"/>
                </a:solidFill>
                <a:latin typeface="Urbanist"/>
                <a:ea typeface="Urbanist"/>
                <a:cs typeface="Urbanist"/>
                <a:sym typeface="Urbanist"/>
              </a:rPr>
              <a:t> </a:t>
            </a:r>
            <a:r>
              <a:rPr lang="en-US" sz="2400" b="0" i="0" u="none" strike="noStrike" cap="none" dirty="0" err="1">
                <a:solidFill>
                  <a:srgbClr val="DEFF9A"/>
                </a:solidFill>
                <a:latin typeface="Urbanist"/>
                <a:ea typeface="Urbanist"/>
                <a:cs typeface="Urbanist"/>
                <a:sym typeface="Urbanist"/>
              </a:rPr>
              <a:t>precizie</a:t>
            </a:r>
            <a:r>
              <a:rPr lang="en-US" sz="2400" b="0" i="0" u="none" strike="noStrike" cap="none" dirty="0">
                <a:solidFill>
                  <a:srgbClr val="DEFF9A"/>
                </a:solidFill>
                <a:latin typeface="Urbanist"/>
                <a:ea typeface="Urbanist"/>
                <a:cs typeface="Urbanist"/>
                <a:sym typeface="Urbanist"/>
              </a:rPr>
              <a:t> </a:t>
            </a:r>
            <a:r>
              <a:rPr lang="en-US" sz="2400" b="0" i="0" u="none" strike="noStrike" cap="none" dirty="0" err="1">
                <a:solidFill>
                  <a:srgbClr val="DEFF9A"/>
                </a:solidFill>
                <a:latin typeface="Urbanist"/>
                <a:ea typeface="Urbanist"/>
                <a:cs typeface="Urbanist"/>
                <a:sym typeface="Urbanist"/>
              </a:rPr>
              <a:t>și</a:t>
            </a:r>
            <a:r>
              <a:rPr lang="en-US" sz="2400" b="0" i="0" u="none" strike="noStrike" cap="none" dirty="0">
                <a:solidFill>
                  <a:srgbClr val="DEFF9A"/>
                </a:solidFill>
                <a:latin typeface="Urbanist"/>
                <a:ea typeface="Urbanist"/>
                <a:cs typeface="Urbanist"/>
                <a:sym typeface="Urbanist"/>
              </a:rPr>
              <a:t> </a:t>
            </a:r>
            <a:r>
              <a:rPr lang="en-US" sz="2400" b="0" i="0" u="none" strike="noStrike" cap="none" dirty="0" err="1">
                <a:solidFill>
                  <a:srgbClr val="DEFF9A"/>
                </a:solidFill>
                <a:latin typeface="Urbanist"/>
                <a:ea typeface="Urbanist"/>
                <a:cs typeface="Urbanist"/>
                <a:sym typeface="Urbanist"/>
              </a:rPr>
              <a:t>capacitatea</a:t>
            </a:r>
            <a:r>
              <a:rPr lang="en-US" sz="2400" b="0" i="0" u="none" strike="noStrike" cap="none" dirty="0">
                <a:solidFill>
                  <a:srgbClr val="DEFF9A"/>
                </a:solidFill>
                <a:latin typeface="Urbanist"/>
                <a:ea typeface="Urbanist"/>
                <a:cs typeface="Urbanist"/>
                <a:sym typeface="Urbanist"/>
              </a:rPr>
              <a:t> de </a:t>
            </a:r>
            <a:r>
              <a:rPr lang="en-US" sz="2400" b="0" i="0" u="none" strike="noStrike" cap="none" dirty="0" err="1">
                <a:solidFill>
                  <a:srgbClr val="DEFF9A"/>
                </a:solidFill>
                <a:latin typeface="Urbanist"/>
                <a:ea typeface="Urbanist"/>
                <a:cs typeface="Urbanist"/>
                <a:sym typeface="Urbanist"/>
              </a:rPr>
              <a:t>generalizare</a:t>
            </a:r>
            <a:endParaRPr sz="2400" dirty="0"/>
          </a:p>
        </p:txBody>
      </p:sp>
      <p:pic>
        <p:nvPicPr>
          <p:cNvPr id="118" name="Google Shape;118;p17"/>
          <p:cNvPicPr preferRelativeResize="0"/>
          <p:nvPr/>
        </p:nvPicPr>
        <p:blipFill>
          <a:blip r:embed="rId3">
            <a:alphaModFix/>
          </a:blip>
          <a:stretch>
            <a:fillRect/>
          </a:stretch>
        </p:blipFill>
        <p:spPr>
          <a:xfrm>
            <a:off x="1323238" y="1566975"/>
            <a:ext cx="9545525" cy="2850625"/>
          </a:xfrm>
          <a:prstGeom prst="rect">
            <a:avLst/>
          </a:prstGeom>
          <a:noFill/>
          <a:ln>
            <a:noFill/>
          </a:ln>
          <a:effectLst>
            <a:outerShdw blurRad="657225" dist="342900" dir="2160000" algn="bl" rotWithShape="0">
              <a:schemeClr val="lt1">
                <a:alpha val="50000"/>
              </a:scheme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22"/>
        <p:cNvGrpSpPr/>
        <p:nvPr/>
      </p:nvGrpSpPr>
      <p:grpSpPr>
        <a:xfrm>
          <a:off x="0" y="0"/>
          <a:ext cx="0" cy="0"/>
          <a:chOff x="0" y="0"/>
          <a:chExt cx="0" cy="0"/>
        </a:xfrm>
      </p:grpSpPr>
      <p:pic>
        <p:nvPicPr>
          <p:cNvPr id="123" name="Google Shape;123;p18" descr="image.png"/>
          <p:cNvPicPr preferRelativeResize="0"/>
          <p:nvPr/>
        </p:nvPicPr>
        <p:blipFill rotWithShape="1">
          <a:blip r:embed="rId3">
            <a:alphaModFix/>
          </a:blip>
          <a:srcRect/>
          <a:stretch/>
        </p:blipFill>
        <p:spPr>
          <a:xfrm>
            <a:off x="272225" y="889975"/>
            <a:ext cx="6418250" cy="4125275"/>
          </a:xfrm>
          <a:prstGeom prst="rect">
            <a:avLst/>
          </a:prstGeom>
          <a:noFill/>
          <a:ln>
            <a:noFill/>
          </a:ln>
        </p:spPr>
      </p:pic>
      <p:sp>
        <p:nvSpPr>
          <p:cNvPr id="124" name="Google Shape;124;p18"/>
          <p:cNvSpPr txBox="1"/>
          <p:nvPr/>
        </p:nvSpPr>
        <p:spPr>
          <a:xfrm>
            <a:off x="487725" y="196975"/>
            <a:ext cx="75012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DEFF9A"/>
                </a:solidFill>
                <a:latin typeface="Urbanist"/>
                <a:ea typeface="Urbanist"/>
                <a:cs typeface="Urbanist"/>
                <a:sym typeface="Urbanist"/>
              </a:rPr>
              <a:t>Explicabilitatea </a:t>
            </a:r>
            <a:r>
              <a:rPr lang="en-US" sz="3600" b="1">
                <a:solidFill>
                  <a:srgbClr val="DEFF9A"/>
                </a:solidFill>
                <a:latin typeface="Urbanist"/>
                <a:ea typeface="Urbanist"/>
                <a:cs typeface="Urbanist"/>
                <a:sym typeface="Urbanist"/>
              </a:rPr>
              <a:t>Gradient Boosting</a:t>
            </a:r>
            <a:endParaRPr/>
          </a:p>
        </p:txBody>
      </p:sp>
      <p:sp>
        <p:nvSpPr>
          <p:cNvPr id="125" name="Google Shape;125;p18"/>
          <p:cNvSpPr txBox="1"/>
          <p:nvPr/>
        </p:nvSpPr>
        <p:spPr>
          <a:xfrm>
            <a:off x="487725" y="4564985"/>
            <a:ext cx="3062400" cy="27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dirty="0">
                <a:solidFill>
                  <a:srgbClr val="E2E8F0"/>
                </a:solidFill>
                <a:latin typeface="Urbanist"/>
                <a:ea typeface="Urbanist"/>
                <a:cs typeface="Urbanist"/>
                <a:sym typeface="Urbanist"/>
              </a:rPr>
              <a:t>Feature importance</a:t>
            </a:r>
            <a:endParaRPr dirty="0"/>
          </a:p>
        </p:txBody>
      </p:sp>
      <p:pic>
        <p:nvPicPr>
          <p:cNvPr id="128" name="Google Shape;128;p18" descr="image.png"/>
          <p:cNvPicPr preferRelativeResize="0"/>
          <p:nvPr/>
        </p:nvPicPr>
        <p:blipFill rotWithShape="1">
          <a:blip r:embed="rId3">
            <a:alphaModFix/>
          </a:blip>
          <a:srcRect/>
          <a:stretch/>
        </p:blipFill>
        <p:spPr>
          <a:xfrm>
            <a:off x="5580350" y="2756122"/>
            <a:ext cx="6418250" cy="3894925"/>
          </a:xfrm>
          <a:prstGeom prst="rect">
            <a:avLst/>
          </a:prstGeom>
          <a:noFill/>
          <a:ln>
            <a:noFill/>
          </a:ln>
        </p:spPr>
      </p:pic>
      <p:sp>
        <p:nvSpPr>
          <p:cNvPr id="126" name="Google Shape;126;p18"/>
          <p:cNvSpPr txBox="1"/>
          <p:nvPr/>
        </p:nvSpPr>
        <p:spPr>
          <a:xfrm>
            <a:off x="5740212" y="6211447"/>
            <a:ext cx="3490800" cy="27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dirty="0">
                <a:solidFill>
                  <a:srgbClr val="E2E8F0"/>
                </a:solidFill>
                <a:latin typeface="Urbanist"/>
                <a:ea typeface="Urbanist"/>
                <a:cs typeface="Urbanist"/>
                <a:sym typeface="Urbanist"/>
              </a:rPr>
              <a:t>Analiza SHAP</a:t>
            </a:r>
            <a:endParaRPr dirty="0"/>
          </a:p>
        </p:txBody>
      </p:sp>
      <p:pic>
        <p:nvPicPr>
          <p:cNvPr id="127" name="Google Shape;127;p18"/>
          <p:cNvPicPr preferRelativeResize="0"/>
          <p:nvPr/>
        </p:nvPicPr>
        <p:blipFill>
          <a:blip r:embed="rId4">
            <a:alphaModFix/>
          </a:blip>
          <a:stretch>
            <a:fillRect/>
          </a:stretch>
        </p:blipFill>
        <p:spPr>
          <a:xfrm>
            <a:off x="487725" y="1024800"/>
            <a:ext cx="6030476" cy="3593925"/>
          </a:xfrm>
          <a:prstGeom prst="rect">
            <a:avLst/>
          </a:prstGeom>
          <a:noFill/>
          <a:ln>
            <a:noFill/>
          </a:ln>
        </p:spPr>
      </p:pic>
      <p:pic>
        <p:nvPicPr>
          <p:cNvPr id="129" name="Google Shape;129;p18"/>
          <p:cNvPicPr preferRelativeResize="0"/>
          <p:nvPr/>
        </p:nvPicPr>
        <p:blipFill>
          <a:blip r:embed="rId5">
            <a:alphaModFix/>
          </a:blip>
          <a:stretch>
            <a:fillRect/>
          </a:stretch>
        </p:blipFill>
        <p:spPr>
          <a:xfrm>
            <a:off x="5740212" y="2952925"/>
            <a:ext cx="6098526" cy="33135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33"/>
        <p:cNvGrpSpPr/>
        <p:nvPr/>
      </p:nvGrpSpPr>
      <p:grpSpPr>
        <a:xfrm>
          <a:off x="0" y="0"/>
          <a:ext cx="0" cy="0"/>
          <a:chOff x="0" y="0"/>
          <a:chExt cx="0" cy="0"/>
        </a:xfrm>
      </p:grpSpPr>
      <p:sp>
        <p:nvSpPr>
          <p:cNvPr id="134" name="Google Shape;134;p19"/>
          <p:cNvSpPr txBox="1"/>
          <p:nvPr/>
        </p:nvSpPr>
        <p:spPr>
          <a:xfrm>
            <a:off x="594125" y="713600"/>
            <a:ext cx="25128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err="1">
                <a:solidFill>
                  <a:srgbClr val="DEFF9A"/>
                </a:solidFill>
                <a:latin typeface="Urbanist"/>
                <a:ea typeface="Urbanist"/>
                <a:cs typeface="Urbanist"/>
                <a:sym typeface="Urbanist"/>
              </a:rPr>
              <a:t>Concluzii</a:t>
            </a:r>
            <a:endParaRPr dirty="0"/>
          </a:p>
        </p:txBody>
      </p:sp>
      <p:sp>
        <p:nvSpPr>
          <p:cNvPr id="135" name="Google Shape;135;p19"/>
          <p:cNvSpPr txBox="1"/>
          <p:nvPr/>
        </p:nvSpPr>
        <p:spPr>
          <a:xfrm>
            <a:off x="548900" y="2378925"/>
            <a:ext cx="9687300" cy="1354500"/>
          </a:xfrm>
          <a:prstGeom prst="rect">
            <a:avLst/>
          </a:prstGeom>
          <a:noFill/>
          <a:ln>
            <a:noFill/>
          </a:ln>
        </p:spPr>
        <p:txBody>
          <a:bodyPr spcFirstLastPara="1" wrap="square" lIns="0" tIns="0" rIns="0" bIns="0" anchor="t" anchorCtr="0">
            <a:spAutoFit/>
          </a:bodyPr>
          <a:lstStyle/>
          <a:p>
            <a:pPr marL="0" marR="0" lvl="0" indent="0" algn="just" rtl="0">
              <a:lnSpc>
                <a:spcPct val="150000"/>
              </a:lnSpc>
              <a:spcBef>
                <a:spcPts val="0"/>
              </a:spcBef>
              <a:spcAft>
                <a:spcPts val="0"/>
              </a:spcAft>
              <a:buNone/>
            </a:pPr>
            <a:r>
              <a:rPr lang="en-US" sz="2200" b="1" i="0" u="none" strike="noStrike" cap="none">
                <a:solidFill>
                  <a:srgbClr val="DEFF9A"/>
                </a:solidFill>
                <a:latin typeface="Urbanist"/>
                <a:ea typeface="Urbanist"/>
                <a:cs typeface="Urbanist"/>
                <a:sym typeface="Urbanist"/>
              </a:rPr>
              <a:t>Lecții </a:t>
            </a:r>
            <a:r>
              <a:rPr lang="en-US" sz="2200" b="1">
                <a:solidFill>
                  <a:srgbClr val="DEFF9A"/>
                </a:solidFill>
                <a:latin typeface="Urbanist"/>
                <a:ea typeface="Urbanist"/>
                <a:cs typeface="Urbanist"/>
                <a:sym typeface="Urbanist"/>
              </a:rPr>
              <a:t>învățate:</a:t>
            </a:r>
            <a:endParaRPr sz="2200" b="1">
              <a:solidFill>
                <a:srgbClr val="DEFF9A"/>
              </a:solidFill>
              <a:latin typeface="Urbanist"/>
              <a:ea typeface="Urbanist"/>
              <a:cs typeface="Urbanist"/>
              <a:sym typeface="Urbanist"/>
            </a:endParaRPr>
          </a:p>
          <a:p>
            <a:pPr marL="457200" lvl="0" indent="-368300" algn="just" rtl="0">
              <a:lnSpc>
                <a:spcPct val="150000"/>
              </a:lnSpc>
              <a:spcBef>
                <a:spcPts val="0"/>
              </a:spcBef>
              <a:spcAft>
                <a:spcPts val="0"/>
              </a:spcAft>
              <a:buClr>
                <a:srgbClr val="DEFF9A"/>
              </a:buClr>
              <a:buSzPts val="2200"/>
              <a:buFont typeface="Urbanist"/>
              <a:buChar char="●"/>
            </a:pPr>
            <a:r>
              <a:rPr lang="en-US" sz="2200">
                <a:solidFill>
                  <a:srgbClr val="E2E8F0"/>
                </a:solidFill>
                <a:latin typeface="Urbanist"/>
                <a:ea typeface="Urbanist"/>
                <a:cs typeface="Urbanist"/>
                <a:sym typeface="Urbanist"/>
              </a:rPr>
              <a:t>Calitatea datelor primează în fața algoritmilor</a:t>
            </a:r>
            <a:endParaRPr sz="2200">
              <a:solidFill>
                <a:srgbClr val="E2E8F0"/>
              </a:solidFill>
              <a:latin typeface="Urbanist"/>
              <a:ea typeface="Urbanist"/>
              <a:cs typeface="Urbanist"/>
              <a:sym typeface="Urbanist"/>
            </a:endParaRPr>
          </a:p>
          <a:p>
            <a:pPr marL="457200" lvl="0" indent="-368300" algn="just" rtl="0">
              <a:lnSpc>
                <a:spcPct val="150000"/>
              </a:lnSpc>
              <a:spcBef>
                <a:spcPts val="0"/>
              </a:spcBef>
              <a:spcAft>
                <a:spcPts val="0"/>
              </a:spcAft>
              <a:buClr>
                <a:srgbClr val="DEFF9A"/>
              </a:buClr>
              <a:buSzPts val="2200"/>
              <a:buFont typeface="Urbanist"/>
              <a:buChar char="●"/>
            </a:pPr>
            <a:r>
              <a:rPr lang="en-US" sz="2200">
                <a:solidFill>
                  <a:srgbClr val="E2E8F0"/>
                </a:solidFill>
                <a:latin typeface="Urbanist"/>
                <a:ea typeface="Urbanist"/>
                <a:cs typeface="Urbanist"/>
                <a:sym typeface="Urbanist"/>
              </a:rPr>
              <a:t>Explicabilitatea elimină efectul de „black-box”</a:t>
            </a:r>
            <a:endParaRPr sz="2200" b="1">
              <a:solidFill>
                <a:srgbClr val="DEFF9A"/>
              </a:solidFill>
              <a:latin typeface="Urbanist"/>
              <a:ea typeface="Urbanist"/>
              <a:cs typeface="Urbanist"/>
              <a:sym typeface="Urbanist"/>
            </a:endParaRPr>
          </a:p>
        </p:txBody>
      </p:sp>
      <p:sp>
        <p:nvSpPr>
          <p:cNvPr id="136" name="Google Shape;136;p19"/>
          <p:cNvSpPr txBox="1"/>
          <p:nvPr/>
        </p:nvSpPr>
        <p:spPr>
          <a:xfrm>
            <a:off x="548900" y="4582425"/>
            <a:ext cx="9111000" cy="1354500"/>
          </a:xfrm>
          <a:prstGeom prst="rect">
            <a:avLst/>
          </a:prstGeom>
          <a:noFill/>
          <a:ln>
            <a:noFill/>
          </a:ln>
        </p:spPr>
        <p:txBody>
          <a:bodyPr spcFirstLastPara="1" wrap="square" lIns="0" tIns="0" rIns="0" bIns="0" anchor="t" anchorCtr="0">
            <a:spAutoFit/>
          </a:bodyPr>
          <a:lstStyle/>
          <a:p>
            <a:pPr marL="0" marR="0" lvl="0" indent="0" algn="just" rtl="0">
              <a:lnSpc>
                <a:spcPct val="150000"/>
              </a:lnSpc>
              <a:spcBef>
                <a:spcPts val="0"/>
              </a:spcBef>
              <a:spcAft>
                <a:spcPts val="0"/>
              </a:spcAft>
              <a:buNone/>
            </a:pPr>
            <a:r>
              <a:rPr lang="en-US" sz="2200" b="1" i="0" u="none" strike="noStrike" cap="none">
                <a:solidFill>
                  <a:srgbClr val="DEFF9A"/>
                </a:solidFill>
                <a:latin typeface="Urbanist"/>
                <a:ea typeface="Urbanist"/>
                <a:cs typeface="Urbanist"/>
                <a:sym typeface="Urbanist"/>
              </a:rPr>
              <a:t>Direcții </a:t>
            </a:r>
            <a:r>
              <a:rPr lang="en-US" sz="2200" b="1">
                <a:solidFill>
                  <a:srgbClr val="DEFF9A"/>
                </a:solidFill>
                <a:latin typeface="Urbanist"/>
                <a:ea typeface="Urbanist"/>
                <a:cs typeface="Urbanist"/>
                <a:sym typeface="Urbanist"/>
              </a:rPr>
              <a:t>v</a:t>
            </a:r>
            <a:r>
              <a:rPr lang="en-US" sz="2200" b="1" i="0" u="none" strike="noStrike" cap="none">
                <a:solidFill>
                  <a:srgbClr val="DEFF9A"/>
                </a:solidFill>
                <a:latin typeface="Urbanist"/>
                <a:ea typeface="Urbanist"/>
                <a:cs typeface="Urbanist"/>
                <a:sym typeface="Urbanist"/>
              </a:rPr>
              <a:t>iitoare:</a:t>
            </a:r>
            <a:endParaRPr sz="2200" b="1" i="0" u="none" strike="noStrike" cap="none">
              <a:solidFill>
                <a:srgbClr val="DEFF9A"/>
              </a:solidFill>
              <a:latin typeface="Urbanist"/>
              <a:ea typeface="Urbanist"/>
              <a:cs typeface="Urbanist"/>
              <a:sym typeface="Urbanist"/>
            </a:endParaRPr>
          </a:p>
          <a:p>
            <a:pPr marL="457200" lvl="0" indent="-368300" algn="just" rtl="0">
              <a:lnSpc>
                <a:spcPct val="150000"/>
              </a:lnSpc>
              <a:spcBef>
                <a:spcPts val="0"/>
              </a:spcBef>
              <a:spcAft>
                <a:spcPts val="0"/>
              </a:spcAft>
              <a:buClr>
                <a:srgbClr val="DEFF9A"/>
              </a:buClr>
              <a:buSzPts val="2200"/>
              <a:buFont typeface="Urbanist"/>
              <a:buChar char="●"/>
            </a:pPr>
            <a:r>
              <a:rPr lang="en-US" sz="2200">
                <a:solidFill>
                  <a:srgbClr val="E2E8F0"/>
                </a:solidFill>
                <a:latin typeface="Urbanist"/>
                <a:ea typeface="Urbanist"/>
                <a:cs typeface="Urbanist"/>
                <a:sym typeface="Urbanist"/>
              </a:rPr>
              <a:t>Validarea pe baza unui chestionar real</a:t>
            </a:r>
            <a:endParaRPr sz="2200">
              <a:solidFill>
                <a:srgbClr val="E2E8F0"/>
              </a:solidFill>
              <a:latin typeface="Urbanist"/>
              <a:ea typeface="Urbanist"/>
              <a:cs typeface="Urbanist"/>
              <a:sym typeface="Urbanist"/>
            </a:endParaRPr>
          </a:p>
          <a:p>
            <a:pPr marL="457200" lvl="0" indent="-368300" algn="just" rtl="0">
              <a:lnSpc>
                <a:spcPct val="150000"/>
              </a:lnSpc>
              <a:spcBef>
                <a:spcPts val="0"/>
              </a:spcBef>
              <a:spcAft>
                <a:spcPts val="0"/>
              </a:spcAft>
              <a:buClr>
                <a:srgbClr val="DEFF9A"/>
              </a:buClr>
              <a:buSzPts val="2200"/>
              <a:buFont typeface="Urbanist"/>
              <a:buChar char="●"/>
            </a:pPr>
            <a:r>
              <a:rPr lang="en-US" sz="2200">
                <a:solidFill>
                  <a:srgbClr val="E2E8F0"/>
                </a:solidFill>
                <a:latin typeface="Urbanist"/>
                <a:ea typeface="Urbanist"/>
                <a:cs typeface="Urbanist"/>
                <a:sym typeface="Urbanist"/>
              </a:rPr>
              <a:t>Integrarea modelului într-o aplicație web/mobilă pentru studenți</a:t>
            </a:r>
            <a:endParaRPr sz="2200" b="1">
              <a:solidFill>
                <a:srgbClr val="DEFF9A"/>
              </a:solidFill>
              <a:latin typeface="Urbanist"/>
              <a:ea typeface="Urbanist"/>
              <a:cs typeface="Urbanist"/>
              <a:sym typeface="Urbanist"/>
            </a:endParaRPr>
          </a:p>
        </p:txBody>
      </p:sp>
      <p:pic>
        <p:nvPicPr>
          <p:cNvPr id="137" name="Google Shape;137;p19"/>
          <p:cNvPicPr preferRelativeResize="0"/>
          <p:nvPr/>
        </p:nvPicPr>
        <p:blipFill>
          <a:blip r:embed="rId3">
            <a:alphaModFix/>
          </a:blip>
          <a:stretch>
            <a:fillRect/>
          </a:stretch>
        </p:blipFill>
        <p:spPr>
          <a:xfrm>
            <a:off x="7547199" y="606300"/>
            <a:ext cx="3680199" cy="2453450"/>
          </a:xfrm>
          <a:prstGeom prst="rect">
            <a:avLst/>
          </a:prstGeom>
          <a:noFill/>
          <a:ln>
            <a:noFill/>
          </a:ln>
          <a:effectLst>
            <a:outerShdw blurRad="385763" dist="209550" dir="2160000" algn="bl" rotWithShape="0">
              <a:schemeClr val="lt1">
                <a:alpha val="50000"/>
              </a:scheme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41"/>
        <p:cNvGrpSpPr/>
        <p:nvPr/>
      </p:nvGrpSpPr>
      <p:grpSpPr>
        <a:xfrm>
          <a:off x="0" y="0"/>
          <a:ext cx="0" cy="0"/>
          <a:chOff x="0" y="0"/>
          <a:chExt cx="0" cy="0"/>
        </a:xfrm>
      </p:grpSpPr>
      <p:sp>
        <p:nvSpPr>
          <p:cNvPr id="142" name="Google Shape;142;p20"/>
          <p:cNvSpPr txBox="1"/>
          <p:nvPr/>
        </p:nvSpPr>
        <p:spPr>
          <a:xfrm>
            <a:off x="904875" y="1470575"/>
            <a:ext cx="52131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dirty="0" err="1">
                <a:solidFill>
                  <a:srgbClr val="DEFF9A"/>
                </a:solidFill>
                <a:latin typeface="Urbanist"/>
                <a:ea typeface="Urbanist"/>
                <a:cs typeface="Urbanist"/>
                <a:sym typeface="Urbanist"/>
              </a:rPr>
              <a:t>Surse</a:t>
            </a:r>
            <a:r>
              <a:rPr lang="en-US" sz="3600" b="1" dirty="0">
                <a:solidFill>
                  <a:srgbClr val="DEFF9A"/>
                </a:solidFill>
                <a:latin typeface="Urbanist"/>
                <a:ea typeface="Urbanist"/>
                <a:cs typeface="Urbanist"/>
                <a:sym typeface="Urbanist"/>
              </a:rPr>
              <a:t> </a:t>
            </a:r>
            <a:r>
              <a:rPr lang="en-US" sz="3600" b="1" dirty="0" err="1">
                <a:solidFill>
                  <a:srgbClr val="DEFF9A"/>
                </a:solidFill>
                <a:latin typeface="Urbanist"/>
                <a:ea typeface="Urbanist"/>
                <a:cs typeface="Urbanist"/>
                <a:sym typeface="Urbanist"/>
              </a:rPr>
              <a:t>imagini</a:t>
            </a:r>
            <a:endParaRPr dirty="0"/>
          </a:p>
        </p:txBody>
      </p:sp>
      <p:sp>
        <p:nvSpPr>
          <p:cNvPr id="143" name="Google Shape;143;p20"/>
          <p:cNvSpPr txBox="1"/>
          <p:nvPr/>
        </p:nvSpPr>
        <p:spPr>
          <a:xfrm>
            <a:off x="904875" y="3600575"/>
            <a:ext cx="7230600" cy="1108200"/>
          </a:xfrm>
          <a:prstGeom prst="rect">
            <a:avLst/>
          </a:prstGeom>
          <a:noFill/>
          <a:ln>
            <a:noFill/>
          </a:ln>
        </p:spPr>
        <p:txBody>
          <a:bodyPr spcFirstLastPara="1" wrap="square" lIns="0" tIns="0" rIns="0" bIns="0" anchor="t" anchorCtr="0">
            <a:spAutoFit/>
          </a:bodyPr>
          <a:lstStyle/>
          <a:p>
            <a:pPr marL="457200" marR="0" lvl="0" indent="-342900" algn="l" rtl="0">
              <a:lnSpc>
                <a:spcPct val="150000"/>
              </a:lnSpc>
              <a:spcBef>
                <a:spcPts val="0"/>
              </a:spcBef>
              <a:spcAft>
                <a:spcPts val="0"/>
              </a:spcAft>
              <a:buClr>
                <a:srgbClr val="DEFF9A"/>
              </a:buClr>
              <a:buSzPts val="1800"/>
              <a:buFont typeface="Urbanist"/>
              <a:buChar char="●"/>
            </a:pPr>
            <a:r>
              <a:rPr lang="en-US" sz="1800" u="sng">
                <a:solidFill>
                  <a:schemeClr val="hlink"/>
                </a:solidFill>
                <a:latin typeface="Urbanist"/>
                <a:ea typeface="Urbanist"/>
                <a:cs typeface="Urbanist"/>
                <a:sym typeface="Urbanist"/>
                <a:hlinkClick r:id="rId3"/>
              </a:rPr>
              <a:t>https://depositphotos.com/ro/photos/studenti.html</a:t>
            </a:r>
            <a:endParaRPr sz="1800">
              <a:solidFill>
                <a:srgbClr val="E2E8F0"/>
              </a:solidFill>
              <a:latin typeface="Urbanist"/>
              <a:ea typeface="Urbanist"/>
              <a:cs typeface="Urbanist"/>
              <a:sym typeface="Urbanist"/>
            </a:endParaRPr>
          </a:p>
          <a:p>
            <a:pPr marL="457200" marR="0" lvl="0" indent="-342900" algn="l" rtl="0">
              <a:lnSpc>
                <a:spcPct val="150000"/>
              </a:lnSpc>
              <a:spcBef>
                <a:spcPts val="0"/>
              </a:spcBef>
              <a:spcAft>
                <a:spcPts val="0"/>
              </a:spcAft>
              <a:buClr>
                <a:srgbClr val="DEFF9A"/>
              </a:buClr>
              <a:buSzPts val="1800"/>
              <a:buFont typeface="Urbanist"/>
              <a:buChar char="●"/>
            </a:pPr>
            <a:r>
              <a:rPr lang="en-US" sz="1800" u="sng">
                <a:solidFill>
                  <a:schemeClr val="hlink"/>
                </a:solidFill>
                <a:latin typeface="Urbanist"/>
                <a:ea typeface="Urbanist"/>
                <a:cs typeface="Urbanist"/>
                <a:sym typeface="Urbanist"/>
                <a:hlinkClick r:id="rId4"/>
              </a:rPr>
              <a:t>https://www.istockphoto.com/photos/student-cap</a:t>
            </a:r>
            <a:endParaRPr sz="1800">
              <a:solidFill>
                <a:srgbClr val="E2E8F0"/>
              </a:solidFill>
              <a:latin typeface="Urbanist"/>
              <a:ea typeface="Urbanist"/>
              <a:cs typeface="Urbanist"/>
              <a:sym typeface="Urbanist"/>
            </a:endParaRPr>
          </a:p>
          <a:p>
            <a:pPr marL="0" marR="0" lvl="0" indent="0" algn="l" rtl="0">
              <a:lnSpc>
                <a:spcPct val="150000"/>
              </a:lnSpc>
              <a:spcBef>
                <a:spcPts val="0"/>
              </a:spcBef>
              <a:spcAft>
                <a:spcPts val="0"/>
              </a:spcAft>
              <a:buNone/>
            </a:pPr>
            <a:endParaRPr sz="1800">
              <a:solidFill>
                <a:srgbClr val="E2E8F0"/>
              </a:solidFill>
              <a:latin typeface="Urbanist"/>
              <a:ea typeface="Urbanist"/>
              <a:cs typeface="Urbanist"/>
              <a:sym typeface="Urbanis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47"/>
        <p:cNvGrpSpPr/>
        <p:nvPr/>
      </p:nvGrpSpPr>
      <p:grpSpPr>
        <a:xfrm>
          <a:off x="0" y="0"/>
          <a:ext cx="0" cy="0"/>
          <a:chOff x="0" y="0"/>
          <a:chExt cx="0" cy="0"/>
        </a:xfrm>
      </p:grpSpPr>
      <p:sp>
        <p:nvSpPr>
          <p:cNvPr id="148" name="Google Shape;148;p21"/>
          <p:cNvSpPr txBox="1"/>
          <p:nvPr/>
        </p:nvSpPr>
        <p:spPr>
          <a:xfrm>
            <a:off x="1768800" y="2874900"/>
            <a:ext cx="8654400" cy="1108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7200" b="1">
                <a:solidFill>
                  <a:srgbClr val="DEFF9A"/>
                </a:solidFill>
                <a:latin typeface="Urbanist"/>
                <a:ea typeface="Urbanist"/>
                <a:cs typeface="Urbanist"/>
                <a:sym typeface="Urbanist"/>
              </a:rPr>
              <a:t>VĂ MULȚUMESC!</a:t>
            </a:r>
            <a:endParaRPr sz="720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258</Words>
  <Application>Microsoft Office PowerPoint</Application>
  <PresentationFormat>Ecran lat</PresentationFormat>
  <Paragraphs>40</Paragraphs>
  <Slides>9</Slides>
  <Notes>9</Notes>
  <HiddenSlides>0</HiddenSlides>
  <MMClips>0</MMClips>
  <ScaleCrop>false</ScaleCrop>
  <HeadingPairs>
    <vt:vector size="6" baseType="variant">
      <vt:variant>
        <vt:lpstr>Fonturi utilizate</vt:lpstr>
      </vt:variant>
      <vt:variant>
        <vt:i4>4</vt:i4>
      </vt:variant>
      <vt:variant>
        <vt:lpstr>Temă</vt:lpstr>
      </vt:variant>
      <vt:variant>
        <vt:i4>1</vt:i4>
      </vt:variant>
      <vt:variant>
        <vt:lpstr>Titluri diapozitive</vt:lpstr>
      </vt:variant>
      <vt:variant>
        <vt:i4>9</vt:i4>
      </vt:variant>
    </vt:vector>
  </HeadingPairs>
  <TitlesOfParts>
    <vt:vector size="14" baseType="lpstr">
      <vt:lpstr>Urbanist</vt:lpstr>
      <vt:lpstr>Calibri</vt:lpstr>
      <vt:lpstr>Urbanist SemiBold</vt:lpstr>
      <vt:lpstr>Arial</vt:lpstr>
      <vt:lpstr>Office Theme</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Bogdana Nelia Oana Tinc</cp:lastModifiedBy>
  <cp:revision>1</cp:revision>
  <dcterms:modified xsi:type="dcterms:W3CDTF">2026-05-27T21:26:20Z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b58b62f-6f94-46bd-8089-18e64b0a9abb_Enabled">
    <vt:lpwstr>true</vt:lpwstr>
  </property>
  <property fmtid="{D5CDD505-2E9C-101B-9397-08002B2CF9AE}" pid="3" name="MSIP_Label_5b58b62f-6f94-46bd-8089-18e64b0a9abb_SetDate">
    <vt:lpwstr>2026-05-27T21:25:56Z</vt:lpwstr>
  </property>
  <property fmtid="{D5CDD505-2E9C-101B-9397-08002B2CF9AE}" pid="4" name="MSIP_Label_5b58b62f-6f94-46bd-8089-18e64b0a9abb_Method">
    <vt:lpwstr>Standard</vt:lpwstr>
  </property>
  <property fmtid="{D5CDD505-2E9C-101B-9397-08002B2CF9AE}" pid="5" name="MSIP_Label_5b58b62f-6f94-46bd-8089-18e64b0a9abb_Name">
    <vt:lpwstr>defa4170-0d19-0005-0004-bc88714345d2</vt:lpwstr>
  </property>
  <property fmtid="{D5CDD505-2E9C-101B-9397-08002B2CF9AE}" pid="6" name="MSIP_Label_5b58b62f-6f94-46bd-8089-18e64b0a9abb_SiteId">
    <vt:lpwstr>a6eb79fa-c4a9-4cce-818d-b85274d15305</vt:lpwstr>
  </property>
  <property fmtid="{D5CDD505-2E9C-101B-9397-08002B2CF9AE}" pid="7" name="MSIP_Label_5b58b62f-6f94-46bd-8089-18e64b0a9abb_ActionId">
    <vt:lpwstr>ae6a03d5-fe77-44ad-b802-2e0e1adb8d3e</vt:lpwstr>
  </property>
  <property fmtid="{D5CDD505-2E9C-101B-9397-08002B2CF9AE}" pid="8" name="MSIP_Label_5b58b62f-6f94-46bd-8089-18e64b0a9abb_ContentBits">
    <vt:lpwstr>0</vt:lpwstr>
  </property>
  <property fmtid="{D5CDD505-2E9C-101B-9397-08002B2CF9AE}" pid="9" name="MSIP_Label_5b58b62f-6f94-46bd-8089-18e64b0a9abb_Tag">
    <vt:lpwstr>10, 3, 0, 1</vt:lpwstr>
  </property>
</Properties>
</file>